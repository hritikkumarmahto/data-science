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57" r:id="rId12"/>
    <p:sldId id="258" r:id="rId13"/>
    <p:sldId id="259" r:id="rId14"/>
    <p:sldId id="260" r:id="rId15"/>
    <p:sldId id="261" r:id="rId16"/>
    <p:sldId id="263" r:id="rId17"/>
    <p:sldId id="276" r:id="rId18"/>
    <p:sldId id="277" r:id="rId19"/>
    <p:sldId id="264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79B8-F50E-9B8B-8CE4-6E242F67B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9D6B0-6498-76F0-E21F-9EB1A9949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36F73-CB40-0562-0BC6-0FD6B269D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9E9B1-B658-A063-CE8B-3E87757F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DF088-A73E-0A94-F15D-A77F3BD1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D1573-64C6-4EB8-D399-79487B5E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F08C-B8C8-1808-9B0B-94F586B16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522FA-E8BA-B057-C341-35F6D7A7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77FC2-8D3E-CF5A-6C1E-CC46AD5FF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90198-F937-32DA-66D2-BF769046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19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18C6-BDEF-1F45-F273-5A4FF04FA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4687E-BC44-6B2F-8993-8F8F1D84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6AFD2-15D9-B245-32AD-66191100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3A01D-F513-3ED4-E216-BCE931D7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A1A45-0616-6A51-DA27-34E42EEB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0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3814-4D32-F822-E92C-5D469EAD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4CA31-F921-C1F5-78FE-173FC622B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2782D-8B8E-A55A-8EBA-3D06DDEA5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1A557-C1E8-86E9-D616-573C7AE5E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1DD10-1975-93B1-6482-E9F2738A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CBCA3-29AE-846A-8D38-0F617185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7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BB57-E60E-66E4-CFC1-8C253086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101B2-5840-C796-CB5B-C66D8FF58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91119-5634-0414-0268-E3A31F08D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468FB-D576-6ED1-F6BD-FDA71773B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F925C-1D31-D144-A342-582A42E4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526A9A-33BB-A24C-5F0E-69778422B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CA0EA-801A-1992-DECF-7D4A3CAD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710E6-4D55-47E8-84D5-6651E968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03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2421-EC52-0484-C1B2-CF8EDFB1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A5232-3912-6F7A-0F54-E18DE2E3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E9F3E-A142-C6CD-9C58-AEE99594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FC1D6-3070-24D5-29D4-ED8DCC5F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2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0F91C-1DF2-6D55-48C6-C86957A7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CCB168-B020-F593-304F-E59E300D8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EB780-5835-008D-4258-229A6B7A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85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767D-7D4D-9526-20CF-B8CCFF17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48088-F5D3-94FA-9926-334C0A221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2FE66-CD76-3DA6-9451-80DC26A1D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3AD8B-E27D-064E-9830-C5965B48D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D98BA-8EE4-7F89-8DFE-4477EABD3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E7944-83A3-06E8-4D69-B6D6B280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0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8F08-473A-2BFF-F93F-056AE79AE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FE57A4-2E65-E5D4-CD80-543E135E8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7E712-3026-4AB5-3F7C-6658A02D8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6E8EF-3B53-B345-4E7C-D6FE094C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6F071-7453-5C0C-3853-93B95123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2BE06-7D0B-954B-7370-9BF7A642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2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7AE7-1B4B-05D8-57C7-5AAEBAFE1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D13A3-4151-2E8E-65FE-D890948E0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BC087-C6F9-D4ED-57E1-FBA142D0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9DEE9-A64A-3A86-7B36-198FB329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E9C94-4721-C967-82D9-3320A086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29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AD33B3-6D74-C93E-CFF7-BAB4B48C6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7FA79-5FCD-8B36-B262-5050B82BF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DF24D-AD0E-9E29-5195-F55086F1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30215-B567-40FC-D4F2-AF31A7B9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B7568-6ED8-46C4-17E3-DB5E7D78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5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9429C2-30A1-C011-9BD7-EA75F573E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ED8C6-F3E7-EF6B-85D2-12CAD2E2B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68A3A-C17D-A800-830D-2E75428E1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20730-546D-46C4-B6A5-A7A0FC89DF91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6EDF0-51ED-30A0-E1D8-E4640CFB5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CC54-1704-2305-6F2D-B66057BAE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EBEFA-0FB8-4528-BABB-DCFFBF2F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5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B47889-40E7-D162-AF92-8412B0419646}"/>
              </a:ext>
            </a:extLst>
          </p:cNvPr>
          <p:cNvSpPr txBox="1"/>
          <p:nvPr/>
        </p:nvSpPr>
        <p:spPr>
          <a:xfrm>
            <a:off x="2861187" y="457104"/>
            <a:ext cx="6096000" cy="43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25"/>
              </a:lnSpc>
              <a:buNone/>
            </a:pPr>
            <a:r>
              <a:rPr lang="en-US" sz="2800" b="1" i="0" dirty="0">
                <a:solidFill>
                  <a:srgbClr val="273239"/>
                </a:solidFill>
                <a:effectLst/>
                <a:latin typeface="Source Sans 3"/>
              </a:rPr>
              <a:t>Logistic Regression in Machine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2B89B5-242E-B864-2202-633860A5E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11" y="1042830"/>
            <a:ext cx="10493445" cy="2662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Logistic Regression is a supervised machine learning algorithm used for classification problems. Unlike linear regression which predicts continuous values it predicts the probability that an input belongs to a specific class.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It is used for binary classification where the output can be one of two possible categories such as Yes/No, True/False or 0/1.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It uses sigmoid function to convert inputs into a probability value between 0 and 1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 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" pitchFamily="2" charset="0"/>
              </a:rPr>
              <a:t>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2" descr="types_of_logistic_regression.webp">
            <a:extLst>
              <a:ext uri="{FF2B5EF4-FFF2-40B4-BE49-F238E27FC236}">
                <a16:creationId xmlns:a16="http://schemas.microsoft.com/office/drawing/2014/main" id="{03A80D60-C63C-7FD8-0C8C-6640911C23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167089" y="237394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0313EC-697D-1503-DD1E-56721AC90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67" y="2752152"/>
            <a:ext cx="10488489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12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533618-ED01-6E85-5986-2CFD1ADF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92" y="1056944"/>
            <a:ext cx="10498015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0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9F82B-240E-0430-EA98-BA77F4694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86" y="270537"/>
            <a:ext cx="10517068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76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3DFA88-4595-E366-141C-B290006DF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69" y="0"/>
            <a:ext cx="10222451" cy="648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2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5CE686-03FD-A2CA-F82D-3802A72AE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99" y="0"/>
            <a:ext cx="9159391" cy="6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4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D1C866-1A6A-3E64-A541-FC2D197A1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40" y="237680"/>
            <a:ext cx="9259592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7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B56CB9-1E1E-A1D5-A69E-6FA10932E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26" y="0"/>
            <a:ext cx="10444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04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A061EA-D5E3-05D4-13D3-CA468BC0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259" y="417076"/>
            <a:ext cx="7887801" cy="1695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973A28-62C7-AFE0-D2D5-BDABF185E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938" y="2245094"/>
            <a:ext cx="9516803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1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F25937-5EF6-1DDD-A452-6F3C39F94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51" y="713996"/>
            <a:ext cx="9478698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76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C5A43A-FF63-6C3A-9247-C1F5985FF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185285"/>
            <a:ext cx="10907647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96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9912F-B17C-413B-767A-EC8A6359D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16" y="491613"/>
            <a:ext cx="8475406" cy="551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01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C814C-82FF-7C87-E9EC-85E42C010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441" y="643467"/>
            <a:ext cx="7503117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01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5F654-B3DA-2165-53DD-354793337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31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DC5EAA-CD3D-0B26-D898-C65C55FA0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88" y="643467"/>
            <a:ext cx="8315023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20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69E349-BCF9-B656-1B47-C6346664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033" y="643467"/>
            <a:ext cx="6671934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55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710C6-4AAF-47CA-5076-971E0863E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20" y="1439158"/>
            <a:ext cx="3429479" cy="2772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FAD119-EB04-DD93-C8D9-3A9AD1058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50" y="420075"/>
            <a:ext cx="4725059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40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16D83-BB4B-9392-220A-8ED5EFBE6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170995"/>
            <a:ext cx="10326541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55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3082B5-0158-DB2B-64D4-470A9E6C7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56" y="792213"/>
            <a:ext cx="10059804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611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F21EA2-C36C-1126-DCAC-6301CF706750}"/>
              </a:ext>
            </a:extLst>
          </p:cNvPr>
          <p:cNvSpPr txBox="1"/>
          <p:nvPr/>
        </p:nvSpPr>
        <p:spPr>
          <a:xfrm>
            <a:off x="432619" y="694302"/>
            <a:ext cx="1103179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Practical Example</a:t>
            </a:r>
          </a:p>
          <a:p>
            <a:pPr>
              <a:buNone/>
            </a:pPr>
            <a:r>
              <a:rPr lang="en-US" b="1" dirty="0"/>
              <a:t>Use Case:</a:t>
            </a:r>
            <a:r>
              <a:rPr lang="en-US" dirty="0"/>
              <a:t> Customer Churn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Scenario:</a:t>
            </a:r>
            <a:r>
              <a:rPr lang="en-US" dirty="0"/>
              <a:t> A telecom company wants to predict if a customer will leave.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Features:</a:t>
            </a:r>
            <a:r>
              <a:rPr lang="en-US" dirty="0"/>
              <a:t> Monthly charges, contract type, tenure, customer service calls.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Output:</a:t>
            </a:r>
            <a:r>
              <a:rPr lang="en-US" dirty="0"/>
              <a:t> Probability of churn (e.g., 0.78 → likely to churn).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Action:</a:t>
            </a:r>
            <a:r>
              <a:rPr lang="en-US" dirty="0"/>
              <a:t> Offer retention incentives to high-risk customers.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Advantages (Pros)</a:t>
            </a:r>
          </a:p>
          <a:p>
            <a:r>
              <a:rPr lang="en-US" dirty="0"/>
              <a:t>✅ Easy to implement and interpret</a:t>
            </a:r>
          </a:p>
          <a:p>
            <a:r>
              <a:rPr lang="en-US" dirty="0">
                <a:effectLst/>
              </a:rPr>
              <a:t>✅ Computationally efficient</a:t>
            </a:r>
          </a:p>
          <a:p>
            <a:r>
              <a:rPr lang="en-US" dirty="0"/>
              <a:t>✅ Works well for linearly separable data</a:t>
            </a:r>
          </a:p>
          <a:p>
            <a:r>
              <a:rPr lang="en-US" dirty="0"/>
              <a:t>✅ Outputs probabilities, not just class labels</a:t>
            </a:r>
          </a:p>
          <a:p>
            <a:r>
              <a:rPr lang="en-US" dirty="0"/>
              <a:t>✅ Can be extended to multiclass problems (multinomial logistic regression)</a:t>
            </a:r>
          </a:p>
          <a:p>
            <a:endParaRPr lang="en-US" dirty="0"/>
          </a:p>
          <a:p>
            <a:r>
              <a:rPr lang="en-US" b="1" dirty="0"/>
              <a:t>Disadvantages (Cons)</a:t>
            </a:r>
          </a:p>
          <a:p>
            <a:r>
              <a:rPr lang="en-US" dirty="0"/>
              <a:t>❌ Assumes linear relationship between features and log-odds</a:t>
            </a:r>
          </a:p>
          <a:p>
            <a:r>
              <a:rPr lang="en-US" dirty="0">
                <a:effectLst/>
              </a:rPr>
              <a:t>❌ Struggles with non-linear decision boundaries</a:t>
            </a:r>
          </a:p>
          <a:p>
            <a:r>
              <a:rPr lang="en-US" dirty="0"/>
              <a:t>❌ Sensitive to multicollinearity</a:t>
            </a:r>
          </a:p>
          <a:p>
            <a:r>
              <a:rPr lang="en-US" dirty="0"/>
              <a:t>❌ Can overfit in high-dimensional datasets</a:t>
            </a:r>
          </a:p>
          <a:p>
            <a:r>
              <a:rPr lang="en-US" dirty="0"/>
              <a:t>❌ Requires large sample size for stable estimates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04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0E1B3F-ACC8-9B99-2270-882A653C5DDB}"/>
              </a:ext>
            </a:extLst>
          </p:cNvPr>
          <p:cNvSpPr txBox="1"/>
          <p:nvPr/>
        </p:nvSpPr>
        <p:spPr>
          <a:xfrm>
            <a:off x="560439" y="546819"/>
            <a:ext cx="1130709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Linearity Assumption:</a:t>
            </a:r>
            <a:r>
              <a:rPr lang="en-US" dirty="0"/>
              <a:t> Real-world data often has non-linear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Outlier Sensitivity:</a:t>
            </a:r>
            <a:r>
              <a:rPr lang="en-US" dirty="0">
                <a:effectLst/>
              </a:rPr>
              <a:t> Outliers can distort coefficients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 Engineering Dependency:</a:t>
            </a:r>
            <a:r>
              <a:rPr lang="en-US" dirty="0"/>
              <a:t> Performance heavily depends on input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Binary Focus:</a:t>
            </a:r>
            <a:r>
              <a:rPr lang="en-US" dirty="0"/>
              <a:t> Standard logistic regression is for binary classification only.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Overcoming Limitations</a:t>
            </a:r>
          </a:p>
          <a:p>
            <a:r>
              <a:rPr lang="en-US" b="1" dirty="0"/>
              <a:t>Non-linearity:</a:t>
            </a:r>
            <a:r>
              <a:rPr lang="en-US" dirty="0"/>
              <a:t> Use polynomial features or switch to non-linear models (e.g., decision trees, SVMs)</a:t>
            </a:r>
          </a:p>
          <a:p>
            <a:r>
              <a:rPr lang="en-US" b="1" dirty="0"/>
              <a:t>Multicollinearity:</a:t>
            </a:r>
            <a:r>
              <a:rPr lang="en-US" dirty="0"/>
              <a:t> Apply dimensionality reduction (PCA) or remove correlated features</a:t>
            </a:r>
          </a:p>
          <a:p>
            <a:r>
              <a:rPr lang="en-US" b="1" dirty="0"/>
              <a:t>Overfitting:</a:t>
            </a:r>
            <a:r>
              <a:rPr lang="en-US" dirty="0"/>
              <a:t> Use regularization (L1/Lasso, L2/Ridge)</a:t>
            </a:r>
          </a:p>
          <a:p>
            <a:r>
              <a:rPr lang="en-US" b="1" dirty="0">
                <a:effectLst/>
              </a:rPr>
              <a:t>Small Data:</a:t>
            </a:r>
            <a:r>
              <a:rPr lang="en-US" dirty="0">
                <a:effectLst/>
              </a:rPr>
              <a:t> Collect more data or use bootstrapping techniques</a:t>
            </a:r>
          </a:p>
          <a:p>
            <a:r>
              <a:rPr lang="en-US" b="1" dirty="0"/>
              <a:t>Multi-class Problems:</a:t>
            </a:r>
            <a:r>
              <a:rPr lang="en-US" dirty="0"/>
              <a:t> Use multinomial or one-vs-rest logistic regression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22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326</Words>
  <Application>Microsoft Office PowerPoint</Application>
  <PresentationFormat>Widescreen</PresentationFormat>
  <Paragraphs>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Nunito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Aditya (Cognizant)</dc:creator>
  <cp:lastModifiedBy>Singh, Aditya (Cognizant)</cp:lastModifiedBy>
  <cp:revision>32</cp:revision>
  <dcterms:created xsi:type="dcterms:W3CDTF">2025-09-05T17:55:45Z</dcterms:created>
  <dcterms:modified xsi:type="dcterms:W3CDTF">2026-02-20T17:48:45Z</dcterms:modified>
</cp:coreProperties>
</file>