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5" r:id="rId19"/>
    <p:sldId id="277" r:id="rId20"/>
  </p:sldIdLst>
  <p:sldSz cx="12192000" cy="6858000"/>
  <p:notesSz cx="6858000" cy="12192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Lora" pitchFamily="2" charset="0"/>
      <p:regular r:id="rId26"/>
    </p:embeddedFont>
    <p:embeddedFont>
      <p:font typeface="Lora Bold" charset="0"/>
      <p:regular r:id="rId27"/>
    </p:embeddedFont>
    <p:embeddedFont>
      <p:font typeface="SimSun-ExtB" panose="02010609060101010101" pitchFamily="49" charset="-122"/>
      <p:regular r:id="rId28"/>
    </p:embeddedFont>
    <p:embeddedFont>
      <p:font typeface="Source Sans 3" panose="020B0604020202020204" charset="0"/>
      <p:regular r:id="rId29"/>
    </p:embeddedFont>
    <p:embeddedFont>
      <p:font typeface="Source Sans 3 Bold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04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20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38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1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28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8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27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89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0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27436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Exploratory Data Analysis (EDA)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746871"/>
            <a:ext cx="6223638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raw data to insights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98086" y="466526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5208786"/>
            <a:ext cx="1755945" cy="37484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7" name="Text 4"/>
          <p:cNvSpPr/>
          <p:nvPr/>
        </p:nvSpPr>
        <p:spPr>
          <a:xfrm>
            <a:off x="817740" y="5268615"/>
            <a:ext cx="217452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 : HRITIK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59259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We’ve Cover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04489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structured journey through every stage of the EDA lifecycle.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58841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2902049"/>
            <a:ext cx="3465525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3052564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EDA?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086" y="3465513"/>
            <a:ext cx="34655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Definition, importance, and how it differs from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63035" y="258841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63035" y="2902049"/>
            <a:ext cx="3465525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0" name="Text 8"/>
          <p:cNvSpPr/>
          <p:nvPr/>
        </p:nvSpPr>
        <p:spPr>
          <a:xfrm>
            <a:off x="4363035" y="3052564"/>
            <a:ext cx="271277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Complete EDA Workflow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63035" y="3465513"/>
            <a:ext cx="34655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pipeline from business problem to ML readiness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27985" y="258841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27985" y="2902049"/>
            <a:ext cx="3465624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4" name="Text 12"/>
          <p:cNvSpPr/>
          <p:nvPr/>
        </p:nvSpPr>
        <p:spPr>
          <a:xfrm>
            <a:off x="8027985" y="3052564"/>
            <a:ext cx="343734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 &amp; Cleaning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27985" y="3465513"/>
            <a:ext cx="34656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profiling, missing values, duplicates, and formatting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086" y="4452838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98086" y="4746526"/>
            <a:ext cx="5298049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8" name="Text 16"/>
          <p:cNvSpPr/>
          <p:nvPr/>
        </p:nvSpPr>
        <p:spPr>
          <a:xfrm>
            <a:off x="698086" y="4916984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Statistical Analysis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8086" y="5329932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Univariate, bivariate, and multivariate exploration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5560" y="4746526"/>
            <a:ext cx="5298049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22" name="Text 20"/>
          <p:cNvSpPr/>
          <p:nvPr/>
        </p:nvSpPr>
        <p:spPr>
          <a:xfrm>
            <a:off x="6195560" y="4916984"/>
            <a:ext cx="336819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 &amp; Insights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95560" y="5329932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Transformations, encoding, selection, and business takeaways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B3321A-5661-0CC5-CAD9-CE8B255A6B5E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6889FE-7301-1ABB-B5D3-2C80592DE187}"/>
              </a:ext>
            </a:extLst>
          </p:cNvPr>
          <p:cNvSpPr txBox="1"/>
          <p:nvPr/>
        </p:nvSpPr>
        <p:spPr>
          <a:xfrm>
            <a:off x="6096000" y="4427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</a:t>
            </a:r>
            <a:r>
              <a:rPr lang="en-US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576884"/>
            <a:ext cx="1139598" cy="374848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F98AC7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7740" y="1636713"/>
            <a:ext cx="150987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031504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EDA?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917329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Exploratory Data Analysis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practice of investigating datasets to understand their structure, uncover patterns, detect anomalies, and test assumptions — </a:t>
            </a: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any modeling begins.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780036"/>
            <a:ext cx="5298049" cy="15009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507" y="4004866"/>
            <a:ext cx="24240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EDA vs. Preprocessing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507" y="4417814"/>
            <a:ext cx="47468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 explores and questions; preprocessing fixes and prepares. EDA drives </a:t>
            </a:r>
            <a:r>
              <a:rPr lang="en-US" sz="12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clean.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560" y="3780036"/>
            <a:ext cx="5298049" cy="15009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21981" y="4004866"/>
            <a:ext cx="327850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70–80% of Project Time?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21981" y="4417814"/>
            <a:ext cx="47468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Poor data understanding leads to flawed models. Teams invest heavily here to avoid costly downstream errors.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36859-B6BF-1E3F-00F4-0DC074B6B8B3}"/>
              </a:ext>
            </a:extLst>
          </p:cNvPr>
          <p:cNvSpPr/>
          <p:nvPr/>
        </p:nvSpPr>
        <p:spPr>
          <a:xfrm>
            <a:off x="10782394" y="6392984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8086" y="430609"/>
            <a:ext cx="38018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Complete EDA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8086" y="875678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stage builds on the last — skipping steps introduces blind spots that compound through the pipeline.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38" y="1111223"/>
            <a:ext cx="9753356" cy="5486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218CC5-715F-1F73-2D9D-C67DE35E65E3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48580"/>
            <a:ext cx="345967" cy="155377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F98AC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3393" y="387002"/>
            <a:ext cx="370235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 Your Dataset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29" y="730101"/>
            <a:ext cx="7610979" cy="42622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9147630-9566-D89F-01A8-7CF14977A425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EE20573-48BD-86B9-2D4C-3CFA82EDD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53" y="5074775"/>
            <a:ext cx="10371719" cy="1646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57913" y="578445"/>
            <a:ext cx="835897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086" y="723900"/>
            <a:ext cx="29563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1091902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data is the foundation of reliable analysis. Address quality issues systematically before any statistical work.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323677"/>
            <a:ext cx="5276123" cy="52762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3549" y="1728642"/>
            <a:ext cx="1782916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Examples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85857" y="2217786"/>
            <a:ext cx="5276123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Missing values: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Impute median income; flag missing customer segments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Duplicates: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Remove duplicate transaction records from merged sources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Category standardization: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"USA", "U.S.A.", "United States" → "USA"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Scaling: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Normalize salary and age to comparable ranges for modeling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23836" y="4215704"/>
            <a:ext cx="5276123" cy="767009"/>
          </a:xfrm>
          <a:prstGeom prst="roundRect">
            <a:avLst>
              <a:gd name="adj" fmla="val 5558"/>
            </a:avLst>
          </a:prstGeom>
          <a:solidFill>
            <a:srgbClr val="7906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549" y="4341912"/>
            <a:ext cx="124616" cy="997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47877" y="4285456"/>
            <a:ext cx="546195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document cleaning decisions 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they affect reproducibility and auditability.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75B7F-466F-74C3-8F82-C70D46C7B9B0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7740" y="967482"/>
            <a:ext cx="1062705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362273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Univariate Analysis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248098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Examine each variable in isolation — understand its distribution, central tendency, and spread before exploring relationships.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791619"/>
            <a:ext cx="1456792" cy="9003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7740" y="3941266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Histogram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44794" y="4354314"/>
            <a:ext cx="251185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Reveals distribution shape, skewness, and modality. Business use: spot customer age clusters or sales seasonality.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2791619"/>
            <a:ext cx="1456792" cy="9003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26315" y="3907167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Box Plot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099766" y="4354215"/>
            <a:ext cx="251185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median, quartiles, and outliers at a glance. Business use: compare spending distributions across segments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640" y="2791619"/>
            <a:ext cx="1456792" cy="9003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03874" y="389920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Density Plot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001295" y="4354314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Smoothed distribution highlighting peaks and tails. Business use: identify most common transaction values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802" y="2783041"/>
            <a:ext cx="1456892" cy="9004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19313" y="3922749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 Chart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8981652" y="4354314"/>
            <a:ext cx="2511957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Compares categorical frequencies. Business use: product category performance or regional breakdowns.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ABF405-8BAE-DF84-B55E-2A53875A45F5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75283"/>
            <a:ext cx="519000" cy="257175"/>
          </a:xfrm>
          <a:prstGeom prst="roundRect">
            <a:avLst>
              <a:gd name="adj" fmla="val 6981"/>
            </a:avLst>
          </a:prstGeom>
          <a:noFill/>
          <a:ln/>
          <a:effectLst>
            <a:outerShdw blurRad="101600" dist="50800" dir="16200000" algn="bl" rotWithShape="0">
              <a:srgbClr val="F98AC7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87777" y="720130"/>
            <a:ext cx="949202" cy="167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977305"/>
            <a:ext cx="5857133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Bivariate &amp; Multivariate Analysis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98086" y="1585615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Move beyond single variables to uncover relationships, correlations, and feature interactions that drive business outcomes.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98086" y="2033389"/>
            <a:ext cx="31420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Types &amp; Visualizations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43" y="2384227"/>
            <a:ext cx="224328" cy="2243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4146" y="2379563"/>
            <a:ext cx="20043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Numerical vs. Numerical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84146" y="2711648"/>
            <a:ext cx="305516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Scatter plots + correlation matrices reveal linear relationships (e.g., ad spend vs. revenue).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43" y="3359547"/>
            <a:ext cx="224328" cy="2243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4146" y="3354884"/>
            <a:ext cx="208790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Categorical vs. Numerical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4146" y="3686969"/>
            <a:ext cx="305516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Grouped boxplots compare distributions across segments (e.g., churn rate by plan type).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43" y="4334867"/>
            <a:ext cx="224328" cy="2243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4146" y="4330204"/>
            <a:ext cx="217144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Categorical vs. Categorical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84146" y="4662289"/>
            <a:ext cx="305516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Stacked bar charts and contingency tables expose segment overlaps.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43" y="5310188"/>
            <a:ext cx="224328" cy="2243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4146" y="5305524"/>
            <a:ext cx="176009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Multivariate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184146" y="5637609"/>
            <a:ext cx="3055167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Heatmaps, pairplots, and parallel coordinates expose feature interactions and multicollinearity.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610580" y="2047478"/>
            <a:ext cx="6889280" cy="149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610580" y="2047478"/>
            <a:ext cx="6889280" cy="149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610580" y="2047478"/>
            <a:ext cx="6889280" cy="149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610580" y="2047478"/>
            <a:ext cx="6889280" cy="149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7EDCC3-7FE0-832F-ABCE-0D52BDAABA1F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3A4FB9-9571-910A-5059-BD0DEEFD0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792" y="2033389"/>
            <a:ext cx="7597798" cy="35131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0200" y="615355"/>
            <a:ext cx="1034230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973336"/>
            <a:ext cx="5009826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98086" y="1786235"/>
            <a:ext cx="1140510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 raw variables into model-ready features that better represent the underlying business problem.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8086" y="2273201"/>
            <a:ext cx="3481598" cy="2070001"/>
          </a:xfrm>
          <a:prstGeom prst="roundRect">
            <a:avLst>
              <a:gd name="adj" fmla="val 1355"/>
            </a:avLst>
          </a:prstGeom>
          <a:solidFill>
            <a:srgbClr val="444752"/>
          </a:solidFill>
          <a:ln/>
        </p:spPr>
      </p:sp>
      <p:sp>
        <p:nvSpPr>
          <p:cNvPr id="7" name="Shape 5"/>
          <p:cNvSpPr/>
          <p:nvPr/>
        </p:nvSpPr>
        <p:spPr>
          <a:xfrm>
            <a:off x="885009" y="2460129"/>
            <a:ext cx="560969" cy="560983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290" y="2614414"/>
            <a:ext cx="252406" cy="2524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5009" y="3196431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Encoding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85009" y="3576638"/>
            <a:ext cx="3107751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One-hot, label, or target encoding for categorical variables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54999" y="2273201"/>
            <a:ext cx="3481598" cy="2070001"/>
          </a:xfrm>
          <a:prstGeom prst="roundRect">
            <a:avLst>
              <a:gd name="adj" fmla="val 1355"/>
            </a:avLst>
          </a:prstGeom>
          <a:solidFill>
            <a:srgbClr val="444752"/>
          </a:solidFill>
          <a:ln/>
        </p:spPr>
      </p:sp>
      <p:sp>
        <p:nvSpPr>
          <p:cNvPr id="12" name="Shape 9"/>
          <p:cNvSpPr/>
          <p:nvPr/>
        </p:nvSpPr>
        <p:spPr>
          <a:xfrm>
            <a:off x="4541922" y="2460129"/>
            <a:ext cx="560969" cy="560983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204" y="2614414"/>
            <a:ext cx="252406" cy="2524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1922" y="3196431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41922" y="3576638"/>
            <a:ext cx="3107751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Standardization and normalization for distance-based models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011912" y="2273201"/>
            <a:ext cx="3481697" cy="2070001"/>
          </a:xfrm>
          <a:prstGeom prst="roundRect">
            <a:avLst>
              <a:gd name="adj" fmla="val 1355"/>
            </a:avLst>
          </a:prstGeom>
          <a:solidFill>
            <a:srgbClr val="444752"/>
          </a:solidFill>
          <a:ln/>
        </p:spPr>
      </p:sp>
      <p:sp>
        <p:nvSpPr>
          <p:cNvPr id="17" name="Shape 13"/>
          <p:cNvSpPr/>
          <p:nvPr/>
        </p:nvSpPr>
        <p:spPr>
          <a:xfrm>
            <a:off x="8198836" y="2460129"/>
            <a:ext cx="560969" cy="560983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117" y="2614414"/>
            <a:ext cx="252406" cy="2524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98836" y="3196431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Transformations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198836" y="3576638"/>
            <a:ext cx="3107850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Log, sqrt, or Box-Cox to correct skewness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98086" y="4518521"/>
            <a:ext cx="5310055" cy="1780183"/>
          </a:xfrm>
          <a:prstGeom prst="roundRect">
            <a:avLst>
              <a:gd name="adj" fmla="val 1576"/>
            </a:avLst>
          </a:prstGeom>
          <a:solidFill>
            <a:srgbClr val="444752"/>
          </a:solidFill>
          <a:ln/>
        </p:spPr>
      </p:sp>
      <p:sp>
        <p:nvSpPr>
          <p:cNvPr id="22" name="Shape 17"/>
          <p:cNvSpPr/>
          <p:nvPr/>
        </p:nvSpPr>
        <p:spPr>
          <a:xfrm>
            <a:off x="885009" y="4705449"/>
            <a:ext cx="560969" cy="560983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9290" y="4859734"/>
            <a:ext cx="252406" cy="2524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5009" y="5441752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Date Features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85009" y="5821958"/>
            <a:ext cx="493620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 day, month, quarter, or season from timestamps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6183455" y="4518521"/>
            <a:ext cx="5310154" cy="1780183"/>
          </a:xfrm>
          <a:prstGeom prst="roundRect">
            <a:avLst>
              <a:gd name="adj" fmla="val 1576"/>
            </a:avLst>
          </a:prstGeom>
          <a:solidFill>
            <a:srgbClr val="444752"/>
          </a:solidFill>
          <a:ln/>
        </p:spPr>
      </p:sp>
      <p:sp>
        <p:nvSpPr>
          <p:cNvPr id="27" name="Shape 21"/>
          <p:cNvSpPr/>
          <p:nvPr/>
        </p:nvSpPr>
        <p:spPr>
          <a:xfrm>
            <a:off x="6370379" y="4705449"/>
            <a:ext cx="560969" cy="560983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4660" y="4859734"/>
            <a:ext cx="252406" cy="25241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70379" y="5441752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Selection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6370379" y="5821958"/>
            <a:ext cx="4936307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low-variance, redundant, or irrelevant features</a:t>
            </a:r>
            <a:endParaRPr lang="en-US" sz="14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6317FF-36C1-B1F9-70EC-C87C9AE399F6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9589" y="2046486"/>
            <a:ext cx="2599035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8104" y="2441278"/>
            <a:ext cx="6223793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Outlier Detection &amp; Visualization Best Practices</a:t>
            </a:r>
            <a:endParaRPr lang="en-US" sz="3667" dirty="0"/>
          </a:p>
        </p:txBody>
      </p:sp>
      <p:sp>
        <p:nvSpPr>
          <p:cNvPr id="8" name="Text 5"/>
          <p:cNvSpPr/>
          <p:nvPr/>
        </p:nvSpPr>
        <p:spPr>
          <a:xfrm>
            <a:off x="698104" y="3913783"/>
            <a:ext cx="622379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practical guide to identifying anomalies, choosing the right charts, and building data-driven narratives — from EDA fundamentals to real-world industry application.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1537262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8103" y="723900"/>
            <a:ext cx="526881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Statistical Methods for Identifying Outliers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03" y="1147962"/>
            <a:ext cx="5276255" cy="5276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644" y="1731597"/>
            <a:ext cx="210691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Choosing the Right Method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339" y="2169024"/>
            <a:ext cx="5885855" cy="119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 your method to your data's characteristics: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339" y="2639865"/>
            <a:ext cx="5276255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9010" indent="-149010"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IQR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distribution-free, ideal for skewed data</a:t>
            </a:r>
            <a:endParaRPr lang="en-US" sz="1400" dirty="0"/>
          </a:p>
          <a:p>
            <a:pPr marL="149010" indent="-149010"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Z-Score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fast, requires normally distributed data</a:t>
            </a:r>
            <a:endParaRPr lang="en-US" sz="1400" dirty="0"/>
          </a:p>
          <a:p>
            <a:pPr marL="149010" indent="-149010"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Isolation Forest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scalable, handles high-dimensional data</a:t>
            </a:r>
            <a:endParaRPr lang="en-US" sz="1400" dirty="0"/>
          </a:p>
          <a:p>
            <a:pPr marL="149010" indent="-149010"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DBSCAN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spatial data, non-linear clusters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23993" y="4122241"/>
            <a:ext cx="5276255" cy="630913"/>
          </a:xfrm>
          <a:prstGeom prst="roundRect">
            <a:avLst>
              <a:gd name="adj" fmla="val 5558"/>
            </a:avLst>
          </a:prstGeom>
          <a:solidFill>
            <a:srgbClr val="7906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07" y="4248448"/>
            <a:ext cx="124619" cy="997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48041" y="4191993"/>
            <a:ext cx="5462092" cy="119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validate statistical outliers against business context </a:t>
            </a:r>
          </a:p>
          <a:p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removing them.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2AFC7C-EBC8-5BAB-2590-DEA56D995110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52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02779" y="656729"/>
            <a:ext cx="1832272" cy="2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698103" y="979388"/>
            <a:ext cx="6431856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Visualizing &amp; Treating Outliers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03" y="2041624"/>
            <a:ext cx="6868220" cy="3891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8521" y="1874342"/>
            <a:ext cx="266303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Visuals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98520" y="2283717"/>
            <a:ext cx="3501728" cy="1100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0927" indent="-270927">
              <a:lnSpc>
                <a:spcPct val="125000"/>
              </a:lnSpc>
              <a:buSzPct val="100000"/>
              <a:buChar char="•"/>
            </a:pPr>
            <a:r>
              <a:rPr lang="en-US" sz="13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Boxplot</a:t>
            </a:r>
            <a:r>
              <a:rPr lang="en-US" sz="13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instantly reveals IQR boundaries and extreme values</a:t>
            </a:r>
            <a:endParaRPr lang="en-US" sz="1333" dirty="0"/>
          </a:p>
          <a:p>
            <a:pPr marL="270927" indent="-270927">
              <a:lnSpc>
                <a:spcPct val="125000"/>
              </a:lnSpc>
              <a:buSzPct val="100000"/>
              <a:buChar char="•"/>
            </a:pPr>
            <a:r>
              <a:rPr lang="en-US" sz="13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Scatter Plot</a:t>
            </a:r>
            <a:r>
              <a:rPr lang="en-US" sz="13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surfaces multivariate outliers and clusters</a:t>
            </a:r>
            <a:endParaRPr lang="en-US" sz="1333" dirty="0"/>
          </a:p>
        </p:txBody>
      </p:sp>
      <p:sp>
        <p:nvSpPr>
          <p:cNvPr id="8" name="Text 5"/>
          <p:cNvSpPr/>
          <p:nvPr/>
        </p:nvSpPr>
        <p:spPr>
          <a:xfrm>
            <a:off x="7998521" y="3536753"/>
            <a:ext cx="266303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Treatment Strategies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98520" y="3946129"/>
            <a:ext cx="3501728" cy="2254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0927" indent="-270927">
              <a:lnSpc>
                <a:spcPct val="125000"/>
              </a:lnSpc>
              <a:buSzPct val="100000"/>
              <a:buChar char="•"/>
            </a:pPr>
            <a:r>
              <a:rPr lang="en-US" sz="13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Remove</a:t>
            </a:r>
            <a:r>
              <a:rPr lang="en-US" sz="13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when clearly erroneous or irrelevant</a:t>
            </a:r>
            <a:endParaRPr lang="en-US" sz="1333" dirty="0"/>
          </a:p>
          <a:p>
            <a:pPr marL="270927" indent="-270927">
              <a:lnSpc>
                <a:spcPct val="125000"/>
              </a:lnSpc>
              <a:buSzPct val="100000"/>
              <a:buChar char="•"/>
            </a:pPr>
            <a:r>
              <a:rPr lang="en-US" sz="13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Cap / Winsorize</a:t>
            </a:r>
            <a:r>
              <a:rPr lang="en-US" sz="13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limit extremes to a percentile threshold</a:t>
            </a:r>
            <a:endParaRPr lang="en-US" sz="1333" dirty="0"/>
          </a:p>
          <a:p>
            <a:pPr marL="270927" indent="-270927">
              <a:lnSpc>
                <a:spcPct val="125000"/>
              </a:lnSpc>
              <a:buSzPct val="100000"/>
              <a:buChar char="•"/>
            </a:pPr>
            <a:r>
              <a:rPr lang="en-US" sz="13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Transform</a:t>
            </a:r>
            <a:r>
              <a:rPr lang="en-US" sz="13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apply log or sqrt to reduce skew</a:t>
            </a:r>
            <a:endParaRPr lang="en-US" sz="1333" dirty="0"/>
          </a:p>
          <a:p>
            <a:pPr marL="270927" indent="-270927">
              <a:lnSpc>
                <a:spcPct val="125000"/>
              </a:lnSpc>
              <a:buSzPct val="100000"/>
              <a:buChar char="•"/>
            </a:pPr>
            <a:r>
              <a:rPr lang="en-US" sz="13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Investigate</a:t>
            </a:r>
            <a:r>
              <a:rPr lang="en-US" sz="13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some outliers reveal critical business insights</a:t>
            </a:r>
            <a:endParaRPr lang="en-US" sz="1333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1253A-7B0D-95C9-9987-B70944347402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45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1567" y="654051"/>
            <a:ext cx="140275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endParaRPr lang="en-US" sz="933" dirty="0"/>
          </a:p>
        </p:txBody>
      </p:sp>
      <p:sp>
        <p:nvSpPr>
          <p:cNvPr id="5" name="Text 2"/>
          <p:cNvSpPr/>
          <p:nvPr/>
        </p:nvSpPr>
        <p:spPr>
          <a:xfrm>
            <a:off x="698103" y="927101"/>
            <a:ext cx="4933156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Choosing the Right Chart</a:t>
            </a:r>
            <a:endParaRPr lang="en-US" sz="286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103" y="1568054"/>
            <a:ext cx="311647" cy="311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103" y="2031801"/>
            <a:ext cx="18334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98104" y="2334022"/>
            <a:ext cx="62237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Histogram, Boxplot, Violin Plot — understand spread, skew, and outliers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103" y="2799557"/>
            <a:ext cx="311647" cy="311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103" y="3263305"/>
            <a:ext cx="18334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Relationship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98104" y="3565526"/>
            <a:ext cx="62237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Scatter Plot, Heatmap — reveal correlations and multivariate patterns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103" y="4031061"/>
            <a:ext cx="311647" cy="3116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103" y="4494808"/>
            <a:ext cx="18334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Trend Over Time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98104" y="4797029"/>
            <a:ext cx="62237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 Chart, Area Chart — track metrics across time periods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103" y="5262563"/>
            <a:ext cx="311647" cy="3116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103" y="5726311"/>
            <a:ext cx="18334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698104" y="6028531"/>
            <a:ext cx="62237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Treemap, Bar Chart — compare parts of a whole (avoid Pie Charts for complex data)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0421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7762" y="956667"/>
            <a:ext cx="1625005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8103" y="1351459"/>
            <a:ext cx="8844557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Design &amp; Data Storytelling</a:t>
            </a:r>
            <a:endParaRPr lang="en-US" sz="3667" dirty="0"/>
          </a:p>
        </p:txBody>
      </p:sp>
      <p:sp>
        <p:nvSpPr>
          <p:cNvPr id="5" name="Text 3"/>
          <p:cNvSpPr/>
          <p:nvPr/>
        </p:nvSpPr>
        <p:spPr>
          <a:xfrm>
            <a:off x="698103" y="2436713"/>
            <a:ext cx="374233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Design Principles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103" y="2929434"/>
            <a:ext cx="5154612" cy="1805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Know your audience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executive vs. analyst needs differ</a:t>
            </a:r>
            <a:endParaRPr lang="en-US" sz="1533" dirty="0"/>
          </a:p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Limit to 5–7 key metrics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avoid cognitive overload</a:t>
            </a:r>
            <a:endParaRPr lang="en-US" sz="1533" dirty="0"/>
          </a:p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Use consistent color semantics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red = alert, green = good</a:t>
            </a:r>
            <a:endParaRPr lang="en-US" sz="1533" dirty="0"/>
          </a:p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Provide context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benchmarks, targets, and trends</a:t>
            </a:r>
            <a:endParaRPr lang="en-US" sz="1533" dirty="0"/>
          </a:p>
        </p:txBody>
      </p:sp>
      <p:sp>
        <p:nvSpPr>
          <p:cNvPr id="7" name="Text 5"/>
          <p:cNvSpPr/>
          <p:nvPr/>
        </p:nvSpPr>
        <p:spPr>
          <a:xfrm>
            <a:off x="6345636" y="2436713"/>
            <a:ext cx="37437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Storytelling Framework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5635" y="2929434"/>
            <a:ext cx="5154612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Hook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lead with the most impactful finding</a:t>
            </a:r>
            <a:endParaRPr lang="en-US" sz="1533" dirty="0"/>
          </a:p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Context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explain why it matters to the business</a:t>
            </a:r>
            <a:endParaRPr lang="en-US" sz="1533" dirty="0"/>
          </a:p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Evidence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support claims with clear, labeled visuals</a:t>
            </a:r>
            <a:endParaRPr lang="en-US" sz="1533" dirty="0"/>
          </a:p>
          <a:p>
            <a:pPr marL="311566" indent="-311566">
              <a:lnSpc>
                <a:spcPct val="133000"/>
              </a:lnSpc>
              <a:buSzPct val="100000"/>
              <a:buChar char="•"/>
            </a:pPr>
            <a:r>
              <a:rPr lang="en-US" sz="1533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Action</a:t>
            </a: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close with a specific recommendation</a:t>
            </a:r>
            <a:endParaRPr lang="en-US" sz="1533" dirty="0"/>
          </a:p>
        </p:txBody>
      </p:sp>
      <p:sp>
        <p:nvSpPr>
          <p:cNvPr id="9" name="Shape 7"/>
          <p:cNvSpPr/>
          <p:nvPr/>
        </p:nvSpPr>
        <p:spPr>
          <a:xfrm>
            <a:off x="6345635" y="4639767"/>
            <a:ext cx="5154612" cy="1096963"/>
          </a:xfrm>
          <a:prstGeom prst="roundRect">
            <a:avLst>
              <a:gd name="adj" fmla="val 2728"/>
            </a:avLst>
          </a:prstGeom>
          <a:solidFill>
            <a:srgbClr val="79064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065" y="4930379"/>
            <a:ext cx="249337" cy="19942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3831" y="4869062"/>
            <a:ext cx="430698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great dashboard answers questions before they're asked.</a:t>
            </a:r>
            <a:endParaRPr lang="en-US" sz="1533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28DF9B-F60C-95C9-E84D-65D651D889BA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94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85991" y="666353"/>
            <a:ext cx="140384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270104" y="1042493"/>
            <a:ext cx="6223793" cy="1136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533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Churn Prediction — Industry Case Study</a:t>
            </a:r>
            <a:endParaRPr lang="en-US" sz="3533" dirty="0"/>
          </a:p>
        </p:txBody>
      </p:sp>
      <p:sp>
        <p:nvSpPr>
          <p:cNvPr id="6" name="Text 3"/>
          <p:cNvSpPr/>
          <p:nvPr/>
        </p:nvSpPr>
        <p:spPr>
          <a:xfrm>
            <a:off x="5270104" y="2459932"/>
            <a:ext cx="6223793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telecom company faced a </a:t>
            </a:r>
            <a:r>
              <a:rPr lang="en-US" sz="1467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22% annual churn rate</a:t>
            </a:r>
            <a:r>
              <a:rPr lang="en-US" sz="1467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 analytics team was tasked with identifying at-risk customers and building a predictive model to enable proactive retention.</a:t>
            </a:r>
            <a:endParaRPr lang="en-US" sz="1467" dirty="0"/>
          </a:p>
        </p:txBody>
      </p:sp>
      <p:sp>
        <p:nvSpPr>
          <p:cNvPr id="7" name="Shape 4"/>
          <p:cNvSpPr/>
          <p:nvPr/>
        </p:nvSpPr>
        <p:spPr>
          <a:xfrm>
            <a:off x="5270103" y="3583683"/>
            <a:ext cx="3018333" cy="1391543"/>
          </a:xfrm>
          <a:prstGeom prst="roundRect">
            <a:avLst>
              <a:gd name="adj" fmla="val 208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5463283" y="3776862"/>
            <a:ext cx="2273499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</a:t>
            </a:r>
            <a:endParaRPr lang="en-US" sz="1733" dirty="0"/>
          </a:p>
        </p:txBody>
      </p:sp>
      <p:sp>
        <p:nvSpPr>
          <p:cNvPr id="9" name="Text 6"/>
          <p:cNvSpPr/>
          <p:nvPr/>
        </p:nvSpPr>
        <p:spPr>
          <a:xfrm>
            <a:off x="5463283" y="4173241"/>
            <a:ext cx="263197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7,043 customers · 21 features · 26% churn rate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8475563" y="3583683"/>
            <a:ext cx="3018333" cy="1391543"/>
          </a:xfrm>
          <a:prstGeom prst="roundRect">
            <a:avLst>
              <a:gd name="adj" fmla="val 2083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8668743" y="3776862"/>
            <a:ext cx="2273499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 Used</a:t>
            </a:r>
            <a:endParaRPr lang="en-US" sz="1733" dirty="0"/>
          </a:p>
        </p:txBody>
      </p:sp>
      <p:sp>
        <p:nvSpPr>
          <p:cNvPr id="12" name="Text 9"/>
          <p:cNvSpPr/>
          <p:nvPr/>
        </p:nvSpPr>
        <p:spPr>
          <a:xfrm>
            <a:off x="8668743" y="4173241"/>
            <a:ext cx="2631976" cy="608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Python, Pandas, Seaborn, Scikit-learn</a:t>
            </a:r>
            <a:endParaRPr lang="en-US" sz="1467" dirty="0"/>
          </a:p>
        </p:txBody>
      </p:sp>
      <p:sp>
        <p:nvSpPr>
          <p:cNvPr id="13" name="Shape 10"/>
          <p:cNvSpPr/>
          <p:nvPr/>
        </p:nvSpPr>
        <p:spPr>
          <a:xfrm>
            <a:off x="5270104" y="5162353"/>
            <a:ext cx="6223793" cy="1087140"/>
          </a:xfrm>
          <a:prstGeom prst="roundRect">
            <a:avLst>
              <a:gd name="adj" fmla="val 2666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5463283" y="5355531"/>
            <a:ext cx="2273499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Goal</a:t>
            </a:r>
            <a:endParaRPr lang="en-US" sz="1733" dirty="0"/>
          </a:p>
        </p:txBody>
      </p:sp>
      <p:sp>
        <p:nvSpPr>
          <p:cNvPr id="15" name="Text 12"/>
          <p:cNvSpPr/>
          <p:nvPr/>
        </p:nvSpPr>
        <p:spPr>
          <a:xfrm>
            <a:off x="5463283" y="5751909"/>
            <a:ext cx="5837436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 churn probability per customer</a:t>
            </a:r>
            <a:endParaRPr lang="en-US" sz="1467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6FE26B-CB82-F0CD-D39A-7F43A61E0EF7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919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57932" y="578446"/>
            <a:ext cx="1019275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103" y="723900"/>
            <a:ext cx="365928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EDA Process &amp; Key Findings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82" y="723900"/>
            <a:ext cx="9691237" cy="47370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61019" y="1687214"/>
            <a:ext cx="2285967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algn="ctr">
              <a:lnSpc>
                <a:spcPct val="104000"/>
              </a:lnSpc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59161" y="4083836"/>
            <a:ext cx="2285967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777207" y="5286055"/>
            <a:ext cx="237199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497" y="5626142"/>
            <a:ext cx="11405393" cy="119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structured four-phase approach ensures no analytical blind spots</a:t>
            </a:r>
          </a:p>
          <a:p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    from initial data profiling through hypothesis generation</a:t>
            </a:r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1581" y="1326543"/>
            <a:ext cx="178296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</a:t>
            </a:r>
            <a:r>
              <a:rPr lang="en-US" sz="8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Findings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4372" y="1883847"/>
            <a:ext cx="5276255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9010" indent="-149010"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on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month-to-month contracts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churned 3× more</a:t>
            </a:r>
          </a:p>
          <a:p>
            <a:pPr marL="149010" indent="-149010">
              <a:buSzPct val="100000"/>
              <a:buChar char="•"/>
            </a:pPr>
            <a:endParaRPr lang="en-US" sz="1600" dirty="0"/>
          </a:p>
          <a:p>
            <a:pPr marL="149010" indent="-149010"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Fiber optic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users had higher churn despite premium pricing</a:t>
            </a:r>
          </a:p>
          <a:p>
            <a:pPr marL="149010" indent="-149010">
              <a:buSzPct val="100000"/>
              <a:buChar char="•"/>
            </a:pPr>
            <a:endParaRPr lang="en-US" sz="1600" dirty="0"/>
          </a:p>
          <a:p>
            <a:pPr marL="149010" indent="-149010"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Tenure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was the strongest negative predictor of churn</a:t>
            </a:r>
            <a:endParaRPr lang="en-US" sz="1600" dirty="0"/>
          </a:p>
          <a:p>
            <a:pPr marL="149010" indent="-149010">
              <a:buSzPct val="100000"/>
              <a:buChar char="•"/>
            </a:pPr>
            <a:endParaRPr lang="en-US" sz="1600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49010" indent="-149010"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values in </a:t>
            </a:r>
            <a:r>
              <a:rPr lang="en-US" sz="1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TotalCharges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correlated with new sign-ups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1580" y="4053319"/>
            <a:ext cx="178296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</a:t>
            </a:r>
            <a:r>
              <a:rPr lang="en-US" sz="8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</a:t>
            </a:r>
            <a:r>
              <a:rPr lang="en-US" sz="2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2350" y="4728187"/>
            <a:ext cx="5276255" cy="700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9010" indent="-149010"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Removing outliers improved AUC by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+4 points</a:t>
            </a:r>
          </a:p>
          <a:p>
            <a:pPr marL="149010" indent="-149010">
              <a:buSzPct val="100000"/>
              <a:buChar char="•"/>
            </a:pPr>
            <a:endParaRPr lang="en-US" sz="1400" dirty="0"/>
          </a:p>
          <a:p>
            <a:pPr marL="149010" indent="-149010"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engineering on tenure boosted recall by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12%</a:t>
            </a:r>
          </a:p>
          <a:p>
            <a:pPr marL="149010" indent="-149010">
              <a:buSzPct val="100000"/>
              <a:buChar char="•"/>
            </a:pPr>
            <a:endParaRPr lang="en-US" sz="1400" dirty="0"/>
          </a:p>
          <a:p>
            <a:pPr marL="149010" indent="-149010"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EDA-driven feature selection reduced model complexity by </a:t>
            </a:r>
            <a:r>
              <a:rPr lang="en-US" sz="1400" b="1" dirty="0">
                <a:solidFill>
                  <a:srgbClr val="D6E5EF"/>
                </a:solidFill>
                <a:ea typeface="SimSun-ExtB" panose="02010609060101010101" pitchFamily="49" charset="-122"/>
                <a:cs typeface="Source Sans 3 Bold" pitchFamily="34" charset="-120"/>
              </a:rPr>
              <a:t>30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%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855BF4-D667-D23D-DB1E-2DEBDC4F2B5C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952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5876" y="634208"/>
            <a:ext cx="121384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8103" y="1019671"/>
            <a:ext cx="9464080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Common Mistakes in EDA &amp; Visualization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103" y="1887140"/>
            <a:ext cx="3469680" cy="2101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458" y="2108895"/>
            <a:ext cx="2661245" cy="29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🔍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Ignoring Data Quality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21458" y="2519859"/>
            <a:ext cx="2924572" cy="93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Skipping checks for missing values, duplicates, and type mismatches corrupts all downstream analysis.</a:t>
            </a:r>
            <a:endParaRPr lang="en-US" sz="1533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1061" y="1887140"/>
            <a:ext cx="3469779" cy="2101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84415" y="2108895"/>
            <a:ext cx="2799357" cy="29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📊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Wrong Chart Selection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684415" y="2519859"/>
            <a:ext cx="2924671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pie charts for multi-category comparisons or line charts for categorical data misleads stakeholders.</a:t>
            </a:r>
            <a:endParaRPr lang="en-US" sz="1533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117" y="1887140"/>
            <a:ext cx="3469779" cy="2101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7473" y="2108895"/>
            <a:ext cx="2592884" cy="29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Overlooking Outliers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8347473" y="2519859"/>
            <a:ext cx="2924671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Treating outliers as noise without investigation can hide fraud, system errors, or high-value segments.</a:t>
            </a:r>
            <a:endParaRPr lang="en-US" sz="1533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999" y="4181475"/>
            <a:ext cx="3469680" cy="21010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43632" y="4325838"/>
            <a:ext cx="2310111" cy="29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 Leakage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2814555" y="4765277"/>
            <a:ext cx="2924572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Including target-variable information in features during EDA inflates model performance unrealistically.</a:t>
            </a:r>
            <a:endParaRPr lang="en-US" sz="1533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9227" y="4181475"/>
            <a:ext cx="3469779" cy="21010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28369" y="4350296"/>
            <a:ext cx="2591495" cy="29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📝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Poor Documentation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6728369" y="4838651"/>
            <a:ext cx="2924671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Undocumented assumptions and transformations make analyses non-reproducible and untrustworthy.</a:t>
            </a:r>
            <a:endParaRPr lang="en-US" sz="1533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E4B0D2-675D-E49C-BC32-D123BE90413C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82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09402"/>
            <a:ext cx="841850" cy="359271"/>
          </a:xfrm>
          <a:prstGeom prst="roundRect">
            <a:avLst>
              <a:gd name="adj" fmla="val 6455"/>
            </a:avLst>
          </a:prstGeom>
          <a:noFill/>
          <a:ln/>
          <a:effectLst>
            <a:outerShdw blurRad="101600" dist="50800" dir="16200000" algn="bl" rotWithShape="0">
              <a:srgbClr val="F98AC7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3970" y="667345"/>
            <a:ext cx="1219666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8086" y="1043484"/>
            <a:ext cx="7319680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Best Practices &amp; Key Takeaways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892598"/>
            <a:ext cx="5304201" cy="144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8257" y="2111177"/>
            <a:ext cx="3465525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with the Business Question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18257" y="2507555"/>
            <a:ext cx="4765457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EDA step should tie back to the problem you're solving — avoid analysis for its own sake.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9408" y="1892598"/>
            <a:ext cx="5304201" cy="1442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9579" y="2111177"/>
            <a:ext cx="2320371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 Everything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509579" y="2507555"/>
            <a:ext cx="4765457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 cleaning decisions, assumptions, and findings. Reproducibility is non-negotiable.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522067"/>
            <a:ext cx="5304201" cy="1442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8257" y="3740646"/>
            <a:ext cx="2647189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Visualize Early and Often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18257" y="4137025"/>
            <a:ext cx="4765457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Charts reveal patterns that summary statistics miss. Let visuals guide your statistical choices.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9408" y="3522067"/>
            <a:ext cx="5304201" cy="1442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9579" y="3740646"/>
            <a:ext cx="2273442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Iterate, Don't Perfect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509579" y="4137025"/>
            <a:ext cx="4765457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 is cyclical. Initial findings will prompt new questions — that's a feature, not a bug.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98086" y="5174952"/>
            <a:ext cx="10795524" cy="1073547"/>
          </a:xfrm>
          <a:prstGeom prst="roundRect">
            <a:avLst>
              <a:gd name="adj" fmla="val 2700"/>
            </a:avLst>
          </a:prstGeom>
          <a:solidFill>
            <a:srgbClr val="790645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60" y="5450483"/>
            <a:ext cx="241492" cy="19317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926" y="5410299"/>
            <a:ext cx="9974509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Next Steps:</a:t>
            </a:r>
            <a:r>
              <a:rPr lang="en-US" sz="15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Apply this workflow to your current dataset. Start with </a:t>
            </a:r>
            <a:r>
              <a:rPr lang="en-US" sz="15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5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5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r>
              <a:rPr lang="en-US" sz="15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a correlation heatmap — then let the data speak.</a:t>
            </a:r>
            <a:endParaRPr lang="en-US" sz="1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09D1AF-CC71-B7E3-D29D-3E57D5CCA79D}"/>
              </a:ext>
            </a:extLst>
          </p:cNvPr>
          <p:cNvSpPr/>
          <p:nvPr/>
        </p:nvSpPr>
        <p:spPr>
          <a:xfrm>
            <a:off x="10782394" y="6385169"/>
            <a:ext cx="1320800" cy="4474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4" y="2533154"/>
            <a:ext cx="6833393" cy="117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7333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Thank You</a:t>
            </a:r>
            <a:endParaRPr lang="en-US" sz="7333" dirty="0"/>
          </a:p>
        </p:txBody>
      </p:sp>
      <p:sp>
        <p:nvSpPr>
          <p:cNvPr id="4" name="Text 1"/>
          <p:cNvSpPr/>
          <p:nvPr/>
        </p:nvSpPr>
        <p:spPr>
          <a:xfrm>
            <a:off x="698104" y="4005660"/>
            <a:ext cx="683339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Any questions?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197343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1239</Words>
  <Application>Microsoft Office PowerPoint</Application>
  <PresentationFormat>Widescreen</PresentationFormat>
  <Paragraphs>180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Lora Light</vt:lpstr>
      <vt:lpstr>Arial</vt:lpstr>
      <vt:lpstr>Lora</vt:lpstr>
      <vt:lpstr>Consolas</vt:lpstr>
      <vt:lpstr>Lora Bold</vt:lpstr>
      <vt:lpstr>SimSun-ExtB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HRITIK KUMAR MAHTO</cp:lastModifiedBy>
  <cp:revision>9</cp:revision>
  <dcterms:created xsi:type="dcterms:W3CDTF">2026-07-06T16:37:51Z</dcterms:created>
  <dcterms:modified xsi:type="dcterms:W3CDTF">2026-07-08T10:24:28Z</dcterms:modified>
</cp:coreProperties>
</file>