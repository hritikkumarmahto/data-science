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8" r:id="rId11"/>
    <p:sldId id="269" r:id="rId12"/>
    <p:sldId id="270" r:id="rId13"/>
    <p:sldId id="271" r:id="rId14"/>
    <p:sldId id="272" r:id="rId15"/>
    <p:sldId id="273" r:id="rId16"/>
    <p:sldId id="274" r:id="rId17"/>
    <p:sldId id="275" r:id="rId18"/>
    <p:sldId id="265" r:id="rId19"/>
    <p:sldId id="277" r:id="rId20"/>
  </p:sldIdLst>
  <p:sldSz cx="12192000" cy="6858000"/>
  <p:notesSz cx="6858000" cy="12192000"/>
  <p:embeddedFontLst>
    <p:embeddedFont>
      <p:font typeface="Consolas" panose="020B0609020204030204" pitchFamily="49" charset="0"/>
      <p:regular r:id="rId22"/>
      <p:bold r:id="rId23"/>
      <p:italic r:id="rId24"/>
      <p:boldItalic r:id="rId25"/>
    </p:embeddedFont>
    <p:embeddedFont>
      <p:font typeface="Lora" pitchFamily="2" charset="0"/>
      <p:regular r:id="rId26"/>
    </p:embeddedFont>
    <p:embeddedFont>
      <p:font typeface="Lora Bold" charset="0"/>
      <p:regular r:id="rId27"/>
    </p:embeddedFont>
    <p:embeddedFont>
      <p:font typeface="SimSun-ExtB" panose="02010609060101010101" pitchFamily="49" charset="-122"/>
      <p:regular r:id="rId28"/>
    </p:embeddedFont>
    <p:embeddedFont>
      <p:font typeface="Source Sans 3" panose="020B0604020202020204" charset="0"/>
      <p:regular r:id="rId29"/>
    </p:embeddedFont>
    <p:embeddedFont>
      <p:font typeface="Source Sans 3 Bold" panose="020B0604020202020204" charset="0"/>
      <p:regular r:id="rId3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82" y="21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font" Target="fonts/font7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font" Target="fonts/font9.fntdata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940493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12030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37384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01115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52807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772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01825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82710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248940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81098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A2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52833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jpeg"/><Relationship Id="rId5" Type="http://schemas.openxmlformats.org/officeDocument/2006/relationships/image" Target="../media/image12.jpeg"/><Relationship Id="rId4" Type="http://schemas.openxmlformats.org/officeDocument/2006/relationships/image" Target="../media/image11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svg"/><Relationship Id="rId11" Type="http://schemas.openxmlformats.org/officeDocument/2006/relationships/image" Target="../media/image25.sv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svg"/><Relationship Id="rId9" Type="http://schemas.openxmlformats.org/officeDocument/2006/relationships/image" Target="../media/image23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9.jpeg"/><Relationship Id="rId7" Type="http://schemas.openxmlformats.org/officeDocument/2006/relationships/image" Target="../media/image33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11" Type="http://schemas.openxmlformats.org/officeDocument/2006/relationships/image" Target="../media/image37.svg"/><Relationship Id="rId5" Type="http://schemas.openxmlformats.org/officeDocument/2006/relationships/image" Target="../media/image31.svg"/><Relationship Id="rId10" Type="http://schemas.openxmlformats.org/officeDocument/2006/relationships/image" Target="../media/image36.png"/><Relationship Id="rId4" Type="http://schemas.openxmlformats.org/officeDocument/2006/relationships/image" Target="../media/image30.png"/><Relationship Id="rId9" Type="http://schemas.openxmlformats.org/officeDocument/2006/relationships/image" Target="../media/image35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5.png"/><Relationship Id="rId4" Type="http://schemas.openxmlformats.org/officeDocument/2006/relationships/image" Target="../media/image44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98086" y="1274366"/>
            <a:ext cx="6223638" cy="1173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dirty="0">
                <a:solidFill>
                  <a:srgbClr val="F98AC7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Exploratory Data Analysis (EDA)</a:t>
            </a:r>
            <a:endParaRPr lang="en-US" sz="3650" dirty="0"/>
          </a:p>
        </p:txBody>
      </p:sp>
      <p:sp>
        <p:nvSpPr>
          <p:cNvPr id="4" name="Text 1"/>
          <p:cNvSpPr/>
          <p:nvPr/>
        </p:nvSpPr>
        <p:spPr>
          <a:xfrm>
            <a:off x="698086" y="2746871"/>
            <a:ext cx="6223638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5100" dirty="0">
                <a:solidFill>
                  <a:srgbClr val="F98AC7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From raw data to insights</a:t>
            </a:r>
            <a:endParaRPr lang="en-US" sz="5100" dirty="0"/>
          </a:p>
        </p:txBody>
      </p:sp>
      <p:sp>
        <p:nvSpPr>
          <p:cNvPr id="5" name="Text 2"/>
          <p:cNvSpPr/>
          <p:nvPr/>
        </p:nvSpPr>
        <p:spPr>
          <a:xfrm>
            <a:off x="698086" y="4665266"/>
            <a:ext cx="6833223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 practical walkthrough of the EDA process.</a:t>
            </a:r>
            <a:endParaRPr lang="en-US" sz="1550" dirty="0"/>
          </a:p>
        </p:txBody>
      </p:sp>
      <p:sp>
        <p:nvSpPr>
          <p:cNvPr id="6" name="Shape 3"/>
          <p:cNvSpPr/>
          <p:nvPr/>
        </p:nvSpPr>
        <p:spPr>
          <a:xfrm>
            <a:off x="698086" y="5208786"/>
            <a:ext cx="1755945" cy="374848"/>
          </a:xfrm>
          <a:prstGeom prst="roundRect">
            <a:avLst>
              <a:gd name="adj" fmla="val 6386"/>
            </a:avLst>
          </a:prstGeom>
          <a:solidFill>
            <a:srgbClr val="49042A"/>
          </a:solidFill>
          <a:ln/>
        </p:spPr>
      </p:sp>
      <p:sp>
        <p:nvSpPr>
          <p:cNvPr id="7" name="Text 4"/>
          <p:cNvSpPr/>
          <p:nvPr/>
        </p:nvSpPr>
        <p:spPr>
          <a:xfrm>
            <a:off x="817740" y="5268615"/>
            <a:ext cx="2174523" cy="2551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25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PRESENTED BY : HRITIK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6" y="1059259"/>
            <a:ext cx="5303209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dirty="0">
                <a:solidFill>
                  <a:srgbClr val="F98AC7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What We’ve Cover</a:t>
            </a:r>
            <a:endParaRPr lang="en-US" sz="3650" dirty="0"/>
          </a:p>
        </p:txBody>
      </p:sp>
      <p:sp>
        <p:nvSpPr>
          <p:cNvPr id="3" name="Text 1"/>
          <p:cNvSpPr/>
          <p:nvPr/>
        </p:nvSpPr>
        <p:spPr>
          <a:xfrm>
            <a:off x="698086" y="2044898"/>
            <a:ext cx="11405108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 structured journey through every stage of the EDA lifecycle.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698086" y="2588419"/>
            <a:ext cx="398949" cy="249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50" dirty="0">
                <a:solidFill>
                  <a:srgbClr val="D6E5EF"/>
                </a:solidFill>
                <a:latin typeface="Lora Light" pitchFamily="34" charset="0"/>
                <a:ea typeface="Lora Light" pitchFamily="34" charset="-122"/>
                <a:cs typeface="Lora Light" pitchFamily="34" charset="-120"/>
              </a:rPr>
              <a:t>01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98086" y="2902049"/>
            <a:ext cx="3465525" cy="25400"/>
          </a:xfrm>
          <a:prstGeom prst="rect">
            <a:avLst/>
          </a:prstGeom>
          <a:solidFill>
            <a:srgbClr val="6EB9FC"/>
          </a:solidFill>
          <a:ln/>
        </p:spPr>
      </p:sp>
      <p:sp>
        <p:nvSpPr>
          <p:cNvPr id="6" name="Text 4"/>
          <p:cNvSpPr/>
          <p:nvPr/>
        </p:nvSpPr>
        <p:spPr>
          <a:xfrm>
            <a:off x="698086" y="3052564"/>
            <a:ext cx="2346762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D6E5E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What is EDA?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98086" y="3465513"/>
            <a:ext cx="3465525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Definition, importance, and how it differs from preprocessing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4363035" y="2588419"/>
            <a:ext cx="398949" cy="249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50" dirty="0">
                <a:solidFill>
                  <a:srgbClr val="D6E5EF"/>
                </a:solidFill>
                <a:latin typeface="Lora Light" pitchFamily="34" charset="0"/>
                <a:ea typeface="Lora Light" pitchFamily="34" charset="-122"/>
                <a:cs typeface="Lora Light" pitchFamily="34" charset="-120"/>
              </a:rPr>
              <a:t>02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4363035" y="2902049"/>
            <a:ext cx="3465525" cy="25400"/>
          </a:xfrm>
          <a:prstGeom prst="rect">
            <a:avLst/>
          </a:prstGeom>
          <a:solidFill>
            <a:srgbClr val="6EB9FC"/>
          </a:solidFill>
          <a:ln/>
        </p:spPr>
      </p:sp>
      <p:sp>
        <p:nvSpPr>
          <p:cNvPr id="10" name="Text 8"/>
          <p:cNvSpPr/>
          <p:nvPr/>
        </p:nvSpPr>
        <p:spPr>
          <a:xfrm>
            <a:off x="4363035" y="3052564"/>
            <a:ext cx="2712771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D6E5E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Complete EDA Workflow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363035" y="3465513"/>
            <a:ext cx="3465525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End-to-end pipeline from business problem to ML readiness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027985" y="2588419"/>
            <a:ext cx="398949" cy="249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50" dirty="0">
                <a:solidFill>
                  <a:srgbClr val="D6E5EF"/>
                </a:solidFill>
                <a:latin typeface="Lora Light" pitchFamily="34" charset="0"/>
                <a:ea typeface="Lora Light" pitchFamily="34" charset="-122"/>
                <a:cs typeface="Lora Light" pitchFamily="34" charset="-120"/>
              </a:rPr>
              <a:t>03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8027985" y="2902049"/>
            <a:ext cx="3465624" cy="25400"/>
          </a:xfrm>
          <a:prstGeom prst="rect">
            <a:avLst/>
          </a:prstGeom>
          <a:solidFill>
            <a:srgbClr val="6EB9FC"/>
          </a:solidFill>
          <a:ln/>
        </p:spPr>
      </p:sp>
      <p:sp>
        <p:nvSpPr>
          <p:cNvPr id="14" name="Text 12"/>
          <p:cNvSpPr/>
          <p:nvPr/>
        </p:nvSpPr>
        <p:spPr>
          <a:xfrm>
            <a:off x="8027985" y="3052564"/>
            <a:ext cx="3437348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D6E5E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Understanding &amp; Cleaning Data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027985" y="3465513"/>
            <a:ext cx="3465624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Dataset profiling, missing values, duplicates, and formatting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698086" y="4452838"/>
            <a:ext cx="398949" cy="249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50" dirty="0">
                <a:solidFill>
                  <a:srgbClr val="D6E5EF"/>
                </a:solidFill>
                <a:latin typeface="Lora Light" pitchFamily="34" charset="0"/>
                <a:ea typeface="Lora Light" pitchFamily="34" charset="-122"/>
                <a:cs typeface="Lora Light" pitchFamily="34" charset="-120"/>
              </a:rPr>
              <a:t>04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698086" y="4746526"/>
            <a:ext cx="5298049" cy="25400"/>
          </a:xfrm>
          <a:prstGeom prst="rect">
            <a:avLst/>
          </a:prstGeom>
          <a:solidFill>
            <a:srgbClr val="6EB9FC"/>
          </a:solidFill>
          <a:ln/>
        </p:spPr>
      </p:sp>
      <p:sp>
        <p:nvSpPr>
          <p:cNvPr id="18" name="Text 16"/>
          <p:cNvSpPr/>
          <p:nvPr/>
        </p:nvSpPr>
        <p:spPr>
          <a:xfrm>
            <a:off x="698086" y="4916984"/>
            <a:ext cx="2346762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D6E5E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Statistical Analysis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98086" y="5329932"/>
            <a:ext cx="5298049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Univariate, bivariate, and multivariate exploration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6195560" y="4452838"/>
            <a:ext cx="398949" cy="249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50" dirty="0">
                <a:solidFill>
                  <a:srgbClr val="D6E5EF"/>
                </a:solidFill>
                <a:latin typeface="Lora Light" pitchFamily="34" charset="0"/>
                <a:ea typeface="Lora Light" pitchFamily="34" charset="-122"/>
                <a:cs typeface="Lora Light" pitchFamily="34" charset="-120"/>
              </a:rPr>
              <a:t>05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195560" y="4746526"/>
            <a:ext cx="5298049" cy="25400"/>
          </a:xfrm>
          <a:prstGeom prst="rect">
            <a:avLst/>
          </a:prstGeom>
          <a:solidFill>
            <a:srgbClr val="6EB9FC"/>
          </a:solidFill>
          <a:ln/>
        </p:spPr>
      </p:sp>
      <p:sp>
        <p:nvSpPr>
          <p:cNvPr id="22" name="Text 20"/>
          <p:cNvSpPr/>
          <p:nvPr/>
        </p:nvSpPr>
        <p:spPr>
          <a:xfrm>
            <a:off x="6195560" y="4916984"/>
            <a:ext cx="3368194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D6E5E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Feature Engineering &amp; Insights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195560" y="5329932"/>
            <a:ext cx="5298049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Transformations, encoding, selection, and business takeaways</a:t>
            </a:r>
            <a:endParaRPr lang="en-US" sz="155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FB3321A-5661-0CC5-CAD9-CE8B255A6B5E}"/>
              </a:ext>
            </a:extLst>
          </p:cNvPr>
          <p:cNvSpPr/>
          <p:nvPr/>
        </p:nvSpPr>
        <p:spPr>
          <a:xfrm>
            <a:off x="10782394" y="6385169"/>
            <a:ext cx="1320800" cy="447431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8086" y="1576884"/>
            <a:ext cx="1139598" cy="374848"/>
          </a:xfrm>
          <a:prstGeom prst="roundRect">
            <a:avLst>
              <a:gd name="adj" fmla="val 6386"/>
            </a:avLst>
          </a:prstGeom>
          <a:noFill/>
          <a:ln/>
          <a:effectLst>
            <a:outerShdw blurRad="101600" dist="50800" dir="16200000" algn="bl" rotWithShape="0">
              <a:srgbClr val="F98AC7">
                <a:alpha val="100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817740" y="1636713"/>
            <a:ext cx="1509873" cy="2551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250" dirty="0">
                <a:solidFill>
                  <a:srgbClr val="F98AC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FOUNDATION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98086" y="2031504"/>
            <a:ext cx="5303209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dirty="0">
                <a:solidFill>
                  <a:srgbClr val="F98AC7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What Is EDA?</a:t>
            </a:r>
            <a:endParaRPr lang="en-US" sz="3650" dirty="0"/>
          </a:p>
        </p:txBody>
      </p:sp>
      <p:sp>
        <p:nvSpPr>
          <p:cNvPr id="5" name="Text 3"/>
          <p:cNvSpPr/>
          <p:nvPr/>
        </p:nvSpPr>
        <p:spPr>
          <a:xfrm>
            <a:off x="698086" y="2917329"/>
            <a:ext cx="10795524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D6E5EF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Exploratory Data Analysis</a:t>
            </a:r>
            <a:r>
              <a:rPr lang="en-US" sz="155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is the practice of investigating datasets to understand their structure, uncover patterns, detect anomalies, and test assumptions — </a:t>
            </a:r>
            <a:r>
              <a:rPr lang="en-US" sz="1550" i="1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before</a:t>
            </a:r>
            <a:r>
              <a:rPr lang="en-US" sz="155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any modeling begins.</a:t>
            </a:r>
            <a:endParaRPr lang="en-US" sz="155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8086" y="3780036"/>
            <a:ext cx="5298049" cy="150098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24507" y="4004866"/>
            <a:ext cx="2424052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D6E5E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EDA vs. Preprocessing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024507" y="4417814"/>
            <a:ext cx="4746804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EDA explores and questions; preprocessing fixes and prepares. EDA drives </a:t>
            </a:r>
            <a:r>
              <a:rPr lang="en-US" sz="1550" i="1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what</a:t>
            </a:r>
            <a:r>
              <a:rPr lang="en-US" sz="155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to clean.</a:t>
            </a:r>
            <a:endParaRPr lang="en-US" sz="155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95560" y="3780036"/>
            <a:ext cx="5298049" cy="1500981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521981" y="4004866"/>
            <a:ext cx="3278502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D6E5E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Why 70–80% of Project Time?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6521981" y="4417814"/>
            <a:ext cx="4746804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Poor data understanding leads to flawed models. Teams invest heavily here to avoid costly downstream errors.</a:t>
            </a:r>
            <a:endParaRPr lang="en-US" sz="155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7736859-B6BF-1E3F-00F4-0DC074B6B8B3}"/>
              </a:ext>
            </a:extLst>
          </p:cNvPr>
          <p:cNvSpPr/>
          <p:nvPr/>
        </p:nvSpPr>
        <p:spPr>
          <a:xfrm>
            <a:off x="10782394" y="6392984"/>
            <a:ext cx="1320800" cy="447431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98086" y="430609"/>
            <a:ext cx="3801868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98AC7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The Complete EDA Workflow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98086" y="875678"/>
            <a:ext cx="11405108" cy="1196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5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Each stage builds on the last — skipping steps introduces blind spots that compound through the pipeline.</a:t>
            </a:r>
            <a:endParaRPr lang="en-US" sz="75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038" y="1111223"/>
            <a:ext cx="9753356" cy="54864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E3218CC5-715F-1F73-2D9D-C67DE35E65E3}"/>
              </a:ext>
            </a:extLst>
          </p:cNvPr>
          <p:cNvSpPr/>
          <p:nvPr/>
        </p:nvSpPr>
        <p:spPr>
          <a:xfrm>
            <a:off x="10782394" y="6385169"/>
            <a:ext cx="1320800" cy="447431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8086" y="548580"/>
            <a:ext cx="345967" cy="155377"/>
          </a:xfrm>
          <a:prstGeom prst="roundRect">
            <a:avLst>
              <a:gd name="adj" fmla="val 7703"/>
            </a:avLst>
          </a:prstGeom>
          <a:noFill/>
          <a:ln/>
          <a:effectLst>
            <a:outerShdw blurRad="101600" dist="50800" dir="16200000" algn="bl" rotWithShape="0">
              <a:srgbClr val="F98AC7">
                <a:alpha val="10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93393" y="387002"/>
            <a:ext cx="3702354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98AC7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Understanding Your Dataset</a:t>
            </a:r>
            <a:endParaRPr lang="en-US" sz="18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4129" y="730101"/>
            <a:ext cx="7610979" cy="4262221"/>
          </a:xfrm>
          <a:prstGeom prst="rect">
            <a:avLst/>
          </a:prstGeom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A9147630-9566-D89F-01A8-7CF14977A425}"/>
              </a:ext>
            </a:extLst>
          </p:cNvPr>
          <p:cNvSpPr/>
          <p:nvPr/>
        </p:nvSpPr>
        <p:spPr>
          <a:xfrm>
            <a:off x="10782394" y="6385169"/>
            <a:ext cx="1320800" cy="447431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2EE20573-48BD-86B9-2D4C-3CFA82EDDA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4053" y="5074775"/>
            <a:ext cx="10371719" cy="164606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57913" y="578445"/>
            <a:ext cx="835897" cy="95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endParaRPr lang="en-US" sz="600" dirty="0"/>
          </a:p>
        </p:txBody>
      </p:sp>
      <p:sp>
        <p:nvSpPr>
          <p:cNvPr id="4" name="Text 2"/>
          <p:cNvSpPr/>
          <p:nvPr/>
        </p:nvSpPr>
        <p:spPr>
          <a:xfrm>
            <a:off x="698086" y="723900"/>
            <a:ext cx="2956347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98AC7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Data Cleaning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98086" y="1091902"/>
            <a:ext cx="11405108" cy="1196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5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Clean data is the foundation of reliable analysis. Address quality issues systematically before any statistical work.</a:t>
            </a:r>
            <a:endParaRPr lang="en-US" sz="75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086" y="1323677"/>
            <a:ext cx="5276123" cy="527625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323549" y="1728642"/>
            <a:ext cx="1782916" cy="1466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F98AC7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Real-World Examples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385857" y="2217786"/>
            <a:ext cx="5276123" cy="5307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152400" indent="-152400" algn="l">
              <a:lnSpc>
                <a:spcPct val="100000"/>
              </a:lnSpc>
              <a:buSzPct val="100000"/>
              <a:buChar char="•"/>
            </a:pPr>
            <a:r>
              <a:rPr lang="en-US" sz="1400" b="1" dirty="0">
                <a:solidFill>
                  <a:srgbClr val="D6E5EF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Missing values:</a:t>
            </a:r>
            <a:r>
              <a:rPr lang="en-US" sz="140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Impute median income; flag missing customer segments</a:t>
            </a:r>
            <a:endParaRPr lang="en-US" sz="1400" dirty="0"/>
          </a:p>
          <a:p>
            <a:pPr marL="152400" indent="-152400" algn="l">
              <a:lnSpc>
                <a:spcPct val="100000"/>
              </a:lnSpc>
              <a:buSzPct val="100000"/>
              <a:buChar char="•"/>
            </a:pPr>
            <a:r>
              <a:rPr lang="en-US" sz="1400" b="1" dirty="0">
                <a:solidFill>
                  <a:srgbClr val="D6E5EF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Duplicates:</a:t>
            </a:r>
            <a:r>
              <a:rPr lang="en-US" sz="140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Remove duplicate transaction records from merged sources</a:t>
            </a:r>
            <a:endParaRPr lang="en-US" sz="1400" dirty="0"/>
          </a:p>
          <a:p>
            <a:pPr marL="152400" indent="-152400" algn="l">
              <a:lnSpc>
                <a:spcPct val="100000"/>
              </a:lnSpc>
              <a:buSzPct val="100000"/>
              <a:buChar char="•"/>
            </a:pPr>
            <a:r>
              <a:rPr lang="en-US" sz="1400" b="1" dirty="0">
                <a:solidFill>
                  <a:srgbClr val="D6E5EF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Category standardization:</a:t>
            </a:r>
            <a:r>
              <a:rPr lang="en-US" sz="140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"USA", "U.S.A.", "United States" → "USA"</a:t>
            </a:r>
            <a:endParaRPr lang="en-US" sz="1400" dirty="0"/>
          </a:p>
          <a:p>
            <a:pPr marL="152400" indent="-152400" algn="l">
              <a:lnSpc>
                <a:spcPct val="100000"/>
              </a:lnSpc>
              <a:buSzPct val="100000"/>
              <a:buChar char="•"/>
            </a:pPr>
            <a:r>
              <a:rPr lang="en-US" sz="1400" b="1" dirty="0">
                <a:solidFill>
                  <a:srgbClr val="D6E5EF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Scaling:</a:t>
            </a:r>
            <a:r>
              <a:rPr lang="en-US" sz="140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Normalize salary and age to comparable ranges for modeling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223836" y="4215704"/>
            <a:ext cx="5276123" cy="767009"/>
          </a:xfrm>
          <a:prstGeom prst="roundRect">
            <a:avLst>
              <a:gd name="adj" fmla="val 5558"/>
            </a:avLst>
          </a:prstGeom>
          <a:solidFill>
            <a:srgbClr val="790645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3549" y="4341912"/>
            <a:ext cx="124616" cy="9971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547877" y="4285456"/>
            <a:ext cx="5461955" cy="1196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Always document cleaning decisions —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they affect reproducibility and auditability.</a:t>
            </a:r>
            <a:endParaRPr lang="en-US" sz="16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0F75B7F-466F-74C3-8F82-C70D46C7B9B0}"/>
              </a:ext>
            </a:extLst>
          </p:cNvPr>
          <p:cNvSpPr/>
          <p:nvPr/>
        </p:nvSpPr>
        <p:spPr>
          <a:xfrm>
            <a:off x="10782394" y="6385169"/>
            <a:ext cx="1320800" cy="447431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17740" y="967482"/>
            <a:ext cx="1062705" cy="2551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98086" y="1362273"/>
            <a:ext cx="5303209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dirty="0">
                <a:solidFill>
                  <a:srgbClr val="F98AC7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Univariate Analysis</a:t>
            </a:r>
            <a:endParaRPr lang="en-US" sz="3650" dirty="0"/>
          </a:p>
        </p:txBody>
      </p:sp>
      <p:sp>
        <p:nvSpPr>
          <p:cNvPr id="5" name="Text 3"/>
          <p:cNvSpPr/>
          <p:nvPr/>
        </p:nvSpPr>
        <p:spPr>
          <a:xfrm>
            <a:off x="698086" y="2248098"/>
            <a:ext cx="11405108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Examine each variable in isolation — understand its distribution, central tendency, and spread before exploring relationships.</a:t>
            </a:r>
            <a:endParaRPr lang="en-US" sz="155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086" y="2791619"/>
            <a:ext cx="1456792" cy="90031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98086" y="3941266"/>
            <a:ext cx="2346762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D6E5E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Histogram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98086" y="4354215"/>
            <a:ext cx="2511858" cy="15959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Reveals distribution shape, skewness, and modality. Business use: spot customer age clusters or sales seasonality.</a:t>
            </a:r>
            <a:endParaRPr lang="en-US" sz="155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9274" y="2791619"/>
            <a:ext cx="1456792" cy="900311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459274" y="3941266"/>
            <a:ext cx="2346762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D6E5E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Box Plot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3459274" y="4354215"/>
            <a:ext cx="2511858" cy="15959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Shows median, quartiles, and outliers at a glance. Business use: compare spending distributions across segments.</a:t>
            </a:r>
            <a:endParaRPr lang="en-US" sz="155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0463" y="2791619"/>
            <a:ext cx="1456792" cy="900311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220463" y="3941266"/>
            <a:ext cx="2346762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D6E5E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Density Plot</a:t>
            </a:r>
            <a:endParaRPr lang="en-US" sz="1800" dirty="0"/>
          </a:p>
        </p:txBody>
      </p:sp>
      <p:sp>
        <p:nvSpPr>
          <p:cNvPr id="14" name="Text 9"/>
          <p:cNvSpPr/>
          <p:nvPr/>
        </p:nvSpPr>
        <p:spPr>
          <a:xfrm>
            <a:off x="6220463" y="4354215"/>
            <a:ext cx="2511858" cy="12767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Smoothed distribution highlighting peaks and tails. Business use: identify most common transaction values.</a:t>
            </a:r>
            <a:endParaRPr lang="en-US" sz="1550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81652" y="2791619"/>
            <a:ext cx="1456892" cy="90041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981652" y="3941366"/>
            <a:ext cx="2346762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D6E5E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Bar Chart</a:t>
            </a:r>
            <a:endParaRPr lang="en-US" sz="1800" dirty="0"/>
          </a:p>
        </p:txBody>
      </p:sp>
      <p:sp>
        <p:nvSpPr>
          <p:cNvPr id="17" name="Text 11"/>
          <p:cNvSpPr/>
          <p:nvPr/>
        </p:nvSpPr>
        <p:spPr>
          <a:xfrm>
            <a:off x="8981652" y="4354314"/>
            <a:ext cx="2511957" cy="15959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Compares categorical frequencies. Business use: product category performance or regional breakdowns.</a:t>
            </a:r>
            <a:endParaRPr lang="en-US" sz="155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FABF405-8BAE-DF84-B55E-2A53875A45F5}"/>
              </a:ext>
            </a:extLst>
          </p:cNvPr>
          <p:cNvSpPr/>
          <p:nvPr/>
        </p:nvSpPr>
        <p:spPr>
          <a:xfrm>
            <a:off x="10782394" y="6385169"/>
            <a:ext cx="1320800" cy="447431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8086" y="675283"/>
            <a:ext cx="519000" cy="257175"/>
          </a:xfrm>
          <a:prstGeom prst="roundRect">
            <a:avLst>
              <a:gd name="adj" fmla="val 6981"/>
            </a:avLst>
          </a:prstGeom>
          <a:noFill/>
          <a:ln/>
          <a:effectLst>
            <a:outerShdw blurRad="101600" dist="50800" dir="16200000" algn="bl" rotWithShape="0">
              <a:srgbClr val="F98AC7">
                <a:alpha val="100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787777" y="720130"/>
            <a:ext cx="949202" cy="1674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98086" y="977305"/>
            <a:ext cx="5857133" cy="440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F98AC7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Bivariate &amp; Multivariate Analysis</a:t>
            </a:r>
            <a:endParaRPr lang="en-US" sz="2750" dirty="0"/>
          </a:p>
        </p:txBody>
      </p:sp>
      <p:sp>
        <p:nvSpPr>
          <p:cNvPr id="5" name="Text 3"/>
          <p:cNvSpPr/>
          <p:nvPr/>
        </p:nvSpPr>
        <p:spPr>
          <a:xfrm>
            <a:off x="698086" y="1585615"/>
            <a:ext cx="11405108" cy="2094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5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Move beyond single variables to uncover relationships, correlations, and feature interactions that drive business outcomes.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98086" y="2033389"/>
            <a:ext cx="3142080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F98AC7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Analysis Types &amp; Visualizations</a:t>
            </a:r>
            <a:endParaRPr lang="en-US" sz="135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4143" y="2384227"/>
            <a:ext cx="224328" cy="22433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84146" y="2379563"/>
            <a:ext cx="2004367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D6E5E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Numerical vs. Numerical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184146" y="2711648"/>
            <a:ext cx="3055167" cy="4189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5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Scatter plots + correlation matrices reveal linear relationships (e.g., ad spend vs. revenue).</a:t>
            </a:r>
            <a:endParaRPr lang="en-US" sz="115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4143" y="3359547"/>
            <a:ext cx="224328" cy="22433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84146" y="3354884"/>
            <a:ext cx="2087907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D6E5E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Categorical vs. Numerical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1184146" y="3686969"/>
            <a:ext cx="3055167" cy="4189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5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Grouped boxplots compare distributions across segments (e.g., churn rate by plan type).</a:t>
            </a:r>
            <a:endParaRPr lang="en-US" sz="115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4143" y="4334867"/>
            <a:ext cx="224328" cy="22433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84146" y="4330204"/>
            <a:ext cx="2171447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D6E5E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Categorical vs. Categorical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1184146" y="4662289"/>
            <a:ext cx="3055167" cy="4189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5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Stacked bar charts and contingency tables expose segment overlaps.</a:t>
            </a:r>
            <a:endParaRPr lang="en-US" sz="115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4143" y="5310188"/>
            <a:ext cx="224328" cy="22433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184146" y="5305524"/>
            <a:ext cx="1760097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D6E5E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Multivariate</a:t>
            </a:r>
            <a:endParaRPr lang="en-US" sz="1350" dirty="0"/>
          </a:p>
        </p:txBody>
      </p:sp>
      <p:sp>
        <p:nvSpPr>
          <p:cNvPr id="18" name="Text 12"/>
          <p:cNvSpPr/>
          <p:nvPr/>
        </p:nvSpPr>
        <p:spPr>
          <a:xfrm>
            <a:off x="1184146" y="5637609"/>
            <a:ext cx="3055167" cy="4189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5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Heatmaps, pairplots, and parallel coordinates expose feature interactions and multicollinearity.</a:t>
            </a:r>
            <a:endParaRPr lang="en-US" sz="1150" dirty="0"/>
          </a:p>
        </p:txBody>
      </p:sp>
      <p:sp>
        <p:nvSpPr>
          <p:cNvPr id="19" name="Text 13"/>
          <p:cNvSpPr/>
          <p:nvPr/>
        </p:nvSpPr>
        <p:spPr>
          <a:xfrm>
            <a:off x="4610580" y="2047478"/>
            <a:ext cx="6889280" cy="149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  <p:sp>
        <p:nvSpPr>
          <p:cNvPr id="20" name="Text 14"/>
          <p:cNvSpPr/>
          <p:nvPr/>
        </p:nvSpPr>
        <p:spPr>
          <a:xfrm>
            <a:off x="4610580" y="2047478"/>
            <a:ext cx="6889280" cy="149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  <p:sp>
        <p:nvSpPr>
          <p:cNvPr id="21" name="Text 15"/>
          <p:cNvSpPr/>
          <p:nvPr/>
        </p:nvSpPr>
        <p:spPr>
          <a:xfrm>
            <a:off x="4610580" y="2047478"/>
            <a:ext cx="6889280" cy="149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  <p:sp>
        <p:nvSpPr>
          <p:cNvPr id="22" name="Text 16"/>
          <p:cNvSpPr/>
          <p:nvPr/>
        </p:nvSpPr>
        <p:spPr>
          <a:xfrm>
            <a:off x="4610580" y="2047478"/>
            <a:ext cx="6889280" cy="149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D7EDCC3-7FE0-832F-ABCE-0D52BDAABA1F}"/>
              </a:ext>
            </a:extLst>
          </p:cNvPr>
          <p:cNvSpPr/>
          <p:nvPr/>
        </p:nvSpPr>
        <p:spPr>
          <a:xfrm>
            <a:off x="10782394" y="6385169"/>
            <a:ext cx="1320800" cy="447431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F33A4FB9-9571-910A-5059-BD0DEEFD05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0792" y="2033389"/>
            <a:ext cx="7597798" cy="351312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10200" y="615355"/>
            <a:ext cx="1034230" cy="2318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9000"/>
              </a:lnSpc>
              <a:buNone/>
            </a:pP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98086" y="973336"/>
            <a:ext cx="5009826" cy="5499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50" dirty="0">
                <a:solidFill>
                  <a:srgbClr val="F98AC7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Feature Engineering</a:t>
            </a:r>
            <a:endParaRPr lang="en-US" sz="3450" dirty="0"/>
          </a:p>
        </p:txBody>
      </p:sp>
      <p:sp>
        <p:nvSpPr>
          <p:cNvPr id="5" name="Text 3"/>
          <p:cNvSpPr/>
          <p:nvPr/>
        </p:nvSpPr>
        <p:spPr>
          <a:xfrm>
            <a:off x="698086" y="1786235"/>
            <a:ext cx="11405108" cy="2898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45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Transform raw variables into model-ready features that better represent the underlying business problem.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98086" y="2273201"/>
            <a:ext cx="3481598" cy="2070001"/>
          </a:xfrm>
          <a:prstGeom prst="roundRect">
            <a:avLst>
              <a:gd name="adj" fmla="val 1355"/>
            </a:avLst>
          </a:prstGeom>
          <a:solidFill>
            <a:srgbClr val="444752"/>
          </a:solidFill>
          <a:ln/>
        </p:spPr>
      </p:sp>
      <p:sp>
        <p:nvSpPr>
          <p:cNvPr id="7" name="Shape 5"/>
          <p:cNvSpPr/>
          <p:nvPr/>
        </p:nvSpPr>
        <p:spPr>
          <a:xfrm>
            <a:off x="885009" y="2460129"/>
            <a:ext cx="560969" cy="560983"/>
          </a:xfrm>
          <a:prstGeom prst="ellipse">
            <a:avLst/>
          </a:prstGeom>
          <a:solidFill>
            <a:srgbClr val="6EB9FC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39290" y="2614414"/>
            <a:ext cx="252406" cy="252413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85009" y="3196431"/>
            <a:ext cx="2200121" cy="2750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D6E5E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Encoding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85009" y="3576638"/>
            <a:ext cx="3107751" cy="5796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45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One-hot, label, or target encoding for categorical variables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354999" y="2273201"/>
            <a:ext cx="3481598" cy="2070001"/>
          </a:xfrm>
          <a:prstGeom prst="roundRect">
            <a:avLst>
              <a:gd name="adj" fmla="val 1355"/>
            </a:avLst>
          </a:prstGeom>
          <a:solidFill>
            <a:srgbClr val="444752"/>
          </a:solidFill>
          <a:ln/>
        </p:spPr>
      </p:sp>
      <p:sp>
        <p:nvSpPr>
          <p:cNvPr id="12" name="Shape 9"/>
          <p:cNvSpPr/>
          <p:nvPr/>
        </p:nvSpPr>
        <p:spPr>
          <a:xfrm>
            <a:off x="4541922" y="2460129"/>
            <a:ext cx="560969" cy="560983"/>
          </a:xfrm>
          <a:prstGeom prst="ellipse">
            <a:avLst/>
          </a:prstGeom>
          <a:solidFill>
            <a:srgbClr val="6EB9FC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696204" y="2614414"/>
            <a:ext cx="252406" cy="25241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541922" y="3196431"/>
            <a:ext cx="2200121" cy="2750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D6E5E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Scaling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4541922" y="3576638"/>
            <a:ext cx="3107751" cy="5796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45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Standardization and normalization for distance-based models</a:t>
            </a:r>
            <a:endParaRPr lang="en-US" sz="1450" dirty="0"/>
          </a:p>
        </p:txBody>
      </p:sp>
      <p:sp>
        <p:nvSpPr>
          <p:cNvPr id="16" name="Shape 12"/>
          <p:cNvSpPr/>
          <p:nvPr/>
        </p:nvSpPr>
        <p:spPr>
          <a:xfrm>
            <a:off x="8011912" y="2273201"/>
            <a:ext cx="3481697" cy="2070001"/>
          </a:xfrm>
          <a:prstGeom prst="roundRect">
            <a:avLst>
              <a:gd name="adj" fmla="val 1355"/>
            </a:avLst>
          </a:prstGeom>
          <a:solidFill>
            <a:srgbClr val="444752"/>
          </a:solidFill>
          <a:ln/>
        </p:spPr>
      </p:sp>
      <p:sp>
        <p:nvSpPr>
          <p:cNvPr id="17" name="Shape 13"/>
          <p:cNvSpPr/>
          <p:nvPr/>
        </p:nvSpPr>
        <p:spPr>
          <a:xfrm>
            <a:off x="8198836" y="2460129"/>
            <a:ext cx="560969" cy="560983"/>
          </a:xfrm>
          <a:prstGeom prst="ellipse">
            <a:avLst/>
          </a:prstGeom>
          <a:solidFill>
            <a:srgbClr val="6EB9FC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53117" y="2614414"/>
            <a:ext cx="252406" cy="252413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98836" y="3196431"/>
            <a:ext cx="2200121" cy="2750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D6E5E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Transformations</a:t>
            </a:r>
            <a:endParaRPr lang="en-US" sz="1700" dirty="0"/>
          </a:p>
        </p:txBody>
      </p:sp>
      <p:sp>
        <p:nvSpPr>
          <p:cNvPr id="20" name="Text 15"/>
          <p:cNvSpPr/>
          <p:nvPr/>
        </p:nvSpPr>
        <p:spPr>
          <a:xfrm>
            <a:off x="8198836" y="3576638"/>
            <a:ext cx="3107850" cy="5796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45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Log, sqrt, or Box-Cox to correct skewness</a:t>
            </a:r>
            <a:endParaRPr lang="en-US" sz="1450" dirty="0"/>
          </a:p>
        </p:txBody>
      </p:sp>
      <p:sp>
        <p:nvSpPr>
          <p:cNvPr id="21" name="Shape 16"/>
          <p:cNvSpPr/>
          <p:nvPr/>
        </p:nvSpPr>
        <p:spPr>
          <a:xfrm>
            <a:off x="698086" y="4518521"/>
            <a:ext cx="5310055" cy="1780183"/>
          </a:xfrm>
          <a:prstGeom prst="roundRect">
            <a:avLst>
              <a:gd name="adj" fmla="val 1576"/>
            </a:avLst>
          </a:prstGeom>
          <a:solidFill>
            <a:srgbClr val="444752"/>
          </a:solidFill>
          <a:ln/>
        </p:spPr>
      </p:sp>
      <p:sp>
        <p:nvSpPr>
          <p:cNvPr id="22" name="Shape 17"/>
          <p:cNvSpPr/>
          <p:nvPr/>
        </p:nvSpPr>
        <p:spPr>
          <a:xfrm>
            <a:off x="885009" y="4705449"/>
            <a:ext cx="560969" cy="560983"/>
          </a:xfrm>
          <a:prstGeom prst="ellipse">
            <a:avLst/>
          </a:prstGeom>
          <a:solidFill>
            <a:srgbClr val="6EB9FC"/>
          </a:solidFill>
          <a:ln/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39290" y="4859734"/>
            <a:ext cx="252406" cy="252413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885009" y="5441752"/>
            <a:ext cx="2200121" cy="2750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D6E5E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Date Features</a:t>
            </a:r>
            <a:endParaRPr lang="en-US" sz="1700" dirty="0"/>
          </a:p>
        </p:txBody>
      </p:sp>
      <p:sp>
        <p:nvSpPr>
          <p:cNvPr id="25" name="Text 19"/>
          <p:cNvSpPr/>
          <p:nvPr/>
        </p:nvSpPr>
        <p:spPr>
          <a:xfrm>
            <a:off x="885009" y="5821958"/>
            <a:ext cx="4936208" cy="2898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45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Extract day, month, quarter, or season from timestamps</a:t>
            </a:r>
            <a:endParaRPr lang="en-US" sz="1450" dirty="0"/>
          </a:p>
        </p:txBody>
      </p:sp>
      <p:sp>
        <p:nvSpPr>
          <p:cNvPr id="26" name="Shape 20"/>
          <p:cNvSpPr/>
          <p:nvPr/>
        </p:nvSpPr>
        <p:spPr>
          <a:xfrm>
            <a:off x="6183455" y="4518521"/>
            <a:ext cx="5310154" cy="1780183"/>
          </a:xfrm>
          <a:prstGeom prst="roundRect">
            <a:avLst>
              <a:gd name="adj" fmla="val 1576"/>
            </a:avLst>
          </a:prstGeom>
          <a:solidFill>
            <a:srgbClr val="444752"/>
          </a:solidFill>
          <a:ln/>
        </p:spPr>
      </p:sp>
      <p:sp>
        <p:nvSpPr>
          <p:cNvPr id="27" name="Shape 21"/>
          <p:cNvSpPr/>
          <p:nvPr/>
        </p:nvSpPr>
        <p:spPr>
          <a:xfrm>
            <a:off x="6370379" y="4705449"/>
            <a:ext cx="560969" cy="560983"/>
          </a:xfrm>
          <a:prstGeom prst="ellipse">
            <a:avLst/>
          </a:prstGeom>
          <a:solidFill>
            <a:srgbClr val="6EB9FC"/>
          </a:solidFill>
          <a:ln/>
        </p:spPr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524660" y="4859734"/>
            <a:ext cx="252406" cy="252413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6370379" y="5441752"/>
            <a:ext cx="2200121" cy="2750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D6E5E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Feature Selection</a:t>
            </a:r>
            <a:endParaRPr lang="en-US" sz="1700" dirty="0"/>
          </a:p>
        </p:txBody>
      </p:sp>
      <p:sp>
        <p:nvSpPr>
          <p:cNvPr id="30" name="Text 23"/>
          <p:cNvSpPr/>
          <p:nvPr/>
        </p:nvSpPr>
        <p:spPr>
          <a:xfrm>
            <a:off x="6370379" y="5821958"/>
            <a:ext cx="4936307" cy="2898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45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Remove low-variance, redundant, or irrelevant features</a:t>
            </a:r>
            <a:endParaRPr lang="en-US" sz="1450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26317FF-36C1-B1F9-70EC-C87C9AE399F6}"/>
              </a:ext>
            </a:extLst>
          </p:cNvPr>
          <p:cNvSpPr/>
          <p:nvPr/>
        </p:nvSpPr>
        <p:spPr>
          <a:xfrm>
            <a:off x="10782394" y="6385169"/>
            <a:ext cx="1320800" cy="447431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0" y="0"/>
            <a:ext cx="457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98104" y="1986657"/>
            <a:ext cx="1192113" cy="374848"/>
          </a:xfrm>
          <a:prstGeom prst="roundRect">
            <a:avLst>
              <a:gd name="adj" fmla="val 6386"/>
            </a:avLst>
          </a:prstGeom>
          <a:solidFill>
            <a:srgbClr val="49042A"/>
          </a:solidFill>
          <a:ln/>
        </p:spPr>
      </p:sp>
      <p:sp>
        <p:nvSpPr>
          <p:cNvPr id="4" name="Text 1"/>
          <p:cNvSpPr/>
          <p:nvPr/>
        </p:nvSpPr>
        <p:spPr>
          <a:xfrm>
            <a:off x="817762" y="2046486"/>
            <a:ext cx="1562397" cy="2551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3000"/>
              </a:lnSpc>
            </a:pPr>
            <a:r>
              <a:rPr lang="en-US" sz="120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DATA SCIENCE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989931" y="1986657"/>
            <a:ext cx="2228751" cy="374848"/>
          </a:xfrm>
          <a:prstGeom prst="roundRect">
            <a:avLst>
              <a:gd name="adj" fmla="val 6386"/>
            </a:avLst>
          </a:prstGeom>
          <a:noFill/>
          <a:ln/>
          <a:effectLst>
            <a:outerShdw blurRad="101600" dist="50800" dir="16200000" algn="bl" rotWithShape="0">
              <a:srgbClr val="F98AC7">
                <a:alpha val="10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2109589" y="2046486"/>
            <a:ext cx="2599035" cy="2551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3000"/>
              </a:lnSpc>
            </a:pPr>
            <a:r>
              <a:rPr lang="en-US" sz="1200" dirty="0">
                <a:solidFill>
                  <a:srgbClr val="F98AC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EXPLORATORY DATA ANALYSIS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98104" y="2441278"/>
            <a:ext cx="6223793" cy="1173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04000"/>
              </a:lnSpc>
            </a:pPr>
            <a:r>
              <a:rPr lang="en-US" sz="3667" dirty="0">
                <a:solidFill>
                  <a:srgbClr val="F98AC7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Outlier Detection &amp; Visualization Best Practices</a:t>
            </a:r>
            <a:endParaRPr lang="en-US" sz="3667" dirty="0"/>
          </a:p>
        </p:txBody>
      </p:sp>
      <p:sp>
        <p:nvSpPr>
          <p:cNvPr id="8" name="Text 5"/>
          <p:cNvSpPr/>
          <p:nvPr/>
        </p:nvSpPr>
        <p:spPr>
          <a:xfrm>
            <a:off x="698104" y="3913783"/>
            <a:ext cx="6223793" cy="957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</a:pPr>
            <a:r>
              <a:rPr lang="en-US" sz="1533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 practical guide to identifying anomalies, choosing the right charts, and building data-driven narratives — from EDA fundamentals to real-world industry application.</a:t>
            </a:r>
            <a:endParaRPr lang="en-US" sz="1533" dirty="0"/>
          </a:p>
        </p:txBody>
      </p:sp>
    </p:spTree>
    <p:extLst>
      <p:ext uri="{BB962C8B-B14F-4D97-AF65-F5344CB8AC3E}">
        <p14:creationId xmlns:p14="http://schemas.microsoft.com/office/powerpoint/2010/main" val="15372629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98103" y="723900"/>
            <a:ext cx="5268813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dirty="0">
                <a:solidFill>
                  <a:srgbClr val="F98AC7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Statistical Methods for Identifying Outliers</a:t>
            </a:r>
            <a:endParaRPr lang="en-US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103" y="1147962"/>
            <a:ext cx="5276255" cy="527625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217644" y="1731597"/>
            <a:ext cx="2106911" cy="1466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600" dirty="0">
                <a:solidFill>
                  <a:srgbClr val="F98AC7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Choosing the Right Method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217339" y="2169024"/>
            <a:ext cx="5885855" cy="1196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en-US" sz="140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Match your method to your data's characteristics: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217339" y="2639865"/>
            <a:ext cx="5276255" cy="5307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149010" indent="-149010">
              <a:buSzPct val="100000"/>
              <a:buChar char="•"/>
            </a:pPr>
            <a:r>
              <a:rPr lang="en-US" sz="1400" b="1" dirty="0">
                <a:solidFill>
                  <a:srgbClr val="D6E5EF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IQR</a:t>
            </a:r>
            <a:r>
              <a:rPr lang="en-US" sz="140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— distribution-free, ideal for skewed data</a:t>
            </a:r>
            <a:endParaRPr lang="en-US" sz="1400" dirty="0"/>
          </a:p>
          <a:p>
            <a:pPr marL="149010" indent="-149010">
              <a:buSzPct val="100000"/>
              <a:buChar char="•"/>
            </a:pPr>
            <a:r>
              <a:rPr lang="en-US" sz="1400" b="1" dirty="0">
                <a:solidFill>
                  <a:srgbClr val="D6E5EF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Z-Score</a:t>
            </a:r>
            <a:r>
              <a:rPr lang="en-US" sz="140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— fast, requires normally distributed data</a:t>
            </a:r>
            <a:endParaRPr lang="en-US" sz="1400" dirty="0"/>
          </a:p>
          <a:p>
            <a:pPr marL="149010" indent="-149010">
              <a:buSzPct val="100000"/>
              <a:buChar char="•"/>
            </a:pPr>
            <a:r>
              <a:rPr lang="en-US" sz="1400" b="1" dirty="0">
                <a:solidFill>
                  <a:srgbClr val="D6E5EF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Isolation Forest</a:t>
            </a:r>
            <a:r>
              <a:rPr lang="en-US" sz="140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— scalable, handles high-dimensional data</a:t>
            </a:r>
            <a:endParaRPr lang="en-US" sz="1400" dirty="0"/>
          </a:p>
          <a:p>
            <a:pPr marL="149010" indent="-149010">
              <a:buSzPct val="100000"/>
              <a:buChar char="•"/>
            </a:pPr>
            <a:r>
              <a:rPr lang="en-US" sz="1400" b="1" dirty="0">
                <a:solidFill>
                  <a:srgbClr val="D6E5EF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DBSCAN</a:t>
            </a:r>
            <a:r>
              <a:rPr lang="en-US" sz="140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— spatial data, non-linear clusters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223993" y="4122241"/>
            <a:ext cx="5276255" cy="630913"/>
          </a:xfrm>
          <a:prstGeom prst="roundRect">
            <a:avLst>
              <a:gd name="adj" fmla="val 5558"/>
            </a:avLst>
          </a:prstGeom>
          <a:solidFill>
            <a:srgbClr val="790645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3707" y="4248448"/>
            <a:ext cx="124619" cy="9971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548041" y="4191993"/>
            <a:ext cx="5462092" cy="1196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en-US" sz="16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Always validate statistical outliers against business context </a:t>
            </a:r>
          </a:p>
          <a:p>
            <a:r>
              <a:rPr lang="en-US" sz="16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before removing them.</a:t>
            </a:r>
            <a:endParaRPr lang="en-US" sz="16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02AFC7C-EBC8-5BAB-2590-DEA56D995110}"/>
              </a:ext>
            </a:extLst>
          </p:cNvPr>
          <p:cNvSpPr/>
          <p:nvPr/>
        </p:nvSpPr>
        <p:spPr>
          <a:xfrm>
            <a:off x="10782394" y="6385169"/>
            <a:ext cx="1320800" cy="447431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75233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02779" y="656729"/>
            <a:ext cx="1832272" cy="2093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25000"/>
              </a:lnSpc>
            </a:pPr>
            <a:endParaRPr lang="en-US" sz="1067" dirty="0"/>
          </a:p>
        </p:txBody>
      </p:sp>
      <p:sp>
        <p:nvSpPr>
          <p:cNvPr id="4" name="Text 2"/>
          <p:cNvSpPr/>
          <p:nvPr/>
        </p:nvSpPr>
        <p:spPr>
          <a:xfrm>
            <a:off x="698103" y="979388"/>
            <a:ext cx="6431856" cy="513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3200" dirty="0">
                <a:solidFill>
                  <a:srgbClr val="F98AC7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Visualizing &amp; Treating Outliers</a:t>
            </a:r>
            <a:endParaRPr lang="en-US" sz="32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103" y="2041624"/>
            <a:ext cx="6868220" cy="389195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998521" y="1874342"/>
            <a:ext cx="2663031" cy="256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600" dirty="0">
                <a:solidFill>
                  <a:srgbClr val="F98AC7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Key Visuals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998520" y="2283717"/>
            <a:ext cx="3501728" cy="1100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70927" indent="-270927">
              <a:lnSpc>
                <a:spcPct val="125000"/>
              </a:lnSpc>
              <a:buSzPct val="100000"/>
              <a:buChar char="•"/>
            </a:pPr>
            <a:r>
              <a:rPr lang="en-US" sz="1333" b="1" dirty="0">
                <a:solidFill>
                  <a:srgbClr val="D6E5EF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Boxplot</a:t>
            </a:r>
            <a:r>
              <a:rPr lang="en-US" sz="1333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— instantly reveals IQR boundaries and extreme values</a:t>
            </a:r>
            <a:endParaRPr lang="en-US" sz="1333" dirty="0"/>
          </a:p>
          <a:p>
            <a:pPr marL="270927" indent="-270927">
              <a:lnSpc>
                <a:spcPct val="125000"/>
              </a:lnSpc>
              <a:buSzPct val="100000"/>
              <a:buChar char="•"/>
            </a:pPr>
            <a:r>
              <a:rPr lang="en-US" sz="1333" b="1" dirty="0">
                <a:solidFill>
                  <a:srgbClr val="D6E5EF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Scatter Plot</a:t>
            </a:r>
            <a:r>
              <a:rPr lang="en-US" sz="1333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— surfaces multivariate outliers and clusters</a:t>
            </a:r>
            <a:endParaRPr lang="en-US" sz="1333" dirty="0"/>
          </a:p>
        </p:txBody>
      </p:sp>
      <p:sp>
        <p:nvSpPr>
          <p:cNvPr id="8" name="Text 5"/>
          <p:cNvSpPr/>
          <p:nvPr/>
        </p:nvSpPr>
        <p:spPr>
          <a:xfrm>
            <a:off x="7998521" y="3536753"/>
            <a:ext cx="2663031" cy="256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600" dirty="0">
                <a:solidFill>
                  <a:srgbClr val="F98AC7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Treatment Strategies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998520" y="3946129"/>
            <a:ext cx="3501728" cy="22540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70927" indent="-270927">
              <a:lnSpc>
                <a:spcPct val="125000"/>
              </a:lnSpc>
              <a:buSzPct val="100000"/>
              <a:buChar char="•"/>
            </a:pPr>
            <a:r>
              <a:rPr lang="en-US" sz="1333" b="1" dirty="0">
                <a:solidFill>
                  <a:srgbClr val="D6E5EF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Remove</a:t>
            </a:r>
            <a:r>
              <a:rPr lang="en-US" sz="1333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— when clearly erroneous or irrelevant</a:t>
            </a:r>
            <a:endParaRPr lang="en-US" sz="1333" dirty="0"/>
          </a:p>
          <a:p>
            <a:pPr marL="270927" indent="-270927">
              <a:lnSpc>
                <a:spcPct val="125000"/>
              </a:lnSpc>
              <a:buSzPct val="100000"/>
              <a:buChar char="•"/>
            </a:pPr>
            <a:r>
              <a:rPr lang="en-US" sz="1333" b="1" dirty="0">
                <a:solidFill>
                  <a:srgbClr val="D6E5EF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Cap / Winsorize</a:t>
            </a:r>
            <a:r>
              <a:rPr lang="en-US" sz="1333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— limit extremes to a percentile threshold</a:t>
            </a:r>
            <a:endParaRPr lang="en-US" sz="1333" dirty="0"/>
          </a:p>
          <a:p>
            <a:pPr marL="270927" indent="-270927">
              <a:lnSpc>
                <a:spcPct val="125000"/>
              </a:lnSpc>
              <a:buSzPct val="100000"/>
              <a:buChar char="•"/>
            </a:pPr>
            <a:r>
              <a:rPr lang="en-US" sz="1333" b="1" dirty="0">
                <a:solidFill>
                  <a:srgbClr val="D6E5EF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Transform</a:t>
            </a:r>
            <a:r>
              <a:rPr lang="en-US" sz="1333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— apply log or sqrt to reduce skew</a:t>
            </a:r>
            <a:endParaRPr lang="en-US" sz="1333" dirty="0"/>
          </a:p>
          <a:p>
            <a:pPr marL="270927" indent="-270927">
              <a:lnSpc>
                <a:spcPct val="125000"/>
              </a:lnSpc>
              <a:buSzPct val="100000"/>
              <a:buChar char="•"/>
            </a:pPr>
            <a:r>
              <a:rPr lang="en-US" sz="1333" b="1" dirty="0">
                <a:solidFill>
                  <a:srgbClr val="D6E5EF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Investigate</a:t>
            </a:r>
            <a:r>
              <a:rPr lang="en-US" sz="1333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— some outliers reveal critical business insights</a:t>
            </a:r>
            <a:endParaRPr lang="en-US" sz="1333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081253A-7B0D-95C9-9987-B70944347402}"/>
              </a:ext>
            </a:extLst>
          </p:cNvPr>
          <p:cNvSpPr/>
          <p:nvPr/>
        </p:nvSpPr>
        <p:spPr>
          <a:xfrm>
            <a:off x="10782394" y="6385169"/>
            <a:ext cx="1320800" cy="447431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514530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0" y="0"/>
            <a:ext cx="4572000" cy="6858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1567" y="654051"/>
            <a:ext cx="1402755" cy="17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19000"/>
              </a:lnSpc>
            </a:pPr>
            <a:endParaRPr lang="en-US" sz="933" dirty="0"/>
          </a:p>
        </p:txBody>
      </p:sp>
      <p:sp>
        <p:nvSpPr>
          <p:cNvPr id="5" name="Text 2"/>
          <p:cNvSpPr/>
          <p:nvPr/>
        </p:nvSpPr>
        <p:spPr>
          <a:xfrm>
            <a:off x="698103" y="927101"/>
            <a:ext cx="4933156" cy="458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2867" dirty="0">
                <a:solidFill>
                  <a:srgbClr val="F98AC7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Choosing the Right Chart</a:t>
            </a:r>
            <a:endParaRPr lang="en-US" sz="2867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8103" y="1568054"/>
            <a:ext cx="311647" cy="311647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98103" y="2031801"/>
            <a:ext cx="1833463" cy="2291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400" dirty="0">
                <a:solidFill>
                  <a:srgbClr val="D6E5E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Distribution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698104" y="2334022"/>
            <a:ext cx="6223793" cy="2220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19000"/>
              </a:lnSpc>
            </a:pPr>
            <a:r>
              <a:rPr lang="en-US" sz="120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Histogram, Boxplot, Violin Plot — understand spread, skew, and outliers</a:t>
            </a:r>
            <a:endParaRPr lang="en-US" sz="12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98103" y="2799557"/>
            <a:ext cx="311647" cy="311647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98103" y="3263305"/>
            <a:ext cx="1833463" cy="2291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400" dirty="0">
                <a:solidFill>
                  <a:srgbClr val="D6E5E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Relationship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698104" y="3565526"/>
            <a:ext cx="6223793" cy="2220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19000"/>
              </a:lnSpc>
            </a:pPr>
            <a:r>
              <a:rPr lang="en-US" sz="120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Scatter Plot, Heatmap — reveal correlations and multivariate patterns</a:t>
            </a:r>
            <a:endParaRPr lang="en-US" sz="12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8103" y="4031061"/>
            <a:ext cx="311647" cy="311647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698103" y="4494808"/>
            <a:ext cx="1833463" cy="2291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400" dirty="0">
                <a:solidFill>
                  <a:srgbClr val="D6E5E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Trend Over Time</a:t>
            </a:r>
            <a:endParaRPr lang="en-US" sz="1400" dirty="0"/>
          </a:p>
        </p:txBody>
      </p:sp>
      <p:sp>
        <p:nvSpPr>
          <p:cNvPr id="14" name="Text 8"/>
          <p:cNvSpPr/>
          <p:nvPr/>
        </p:nvSpPr>
        <p:spPr>
          <a:xfrm>
            <a:off x="698104" y="4797029"/>
            <a:ext cx="6223793" cy="2220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19000"/>
              </a:lnSpc>
            </a:pPr>
            <a:r>
              <a:rPr lang="en-US" sz="120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Line Chart, Area Chart — track metrics across time periods</a:t>
            </a:r>
            <a:endParaRPr lang="en-US" sz="120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98103" y="5262563"/>
            <a:ext cx="311647" cy="311647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698103" y="5726311"/>
            <a:ext cx="1833463" cy="2291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400" dirty="0">
                <a:solidFill>
                  <a:srgbClr val="D6E5E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Composition</a:t>
            </a:r>
            <a:endParaRPr lang="en-US" sz="1400" dirty="0"/>
          </a:p>
        </p:txBody>
      </p:sp>
      <p:sp>
        <p:nvSpPr>
          <p:cNvPr id="17" name="Text 10"/>
          <p:cNvSpPr/>
          <p:nvPr/>
        </p:nvSpPr>
        <p:spPr>
          <a:xfrm>
            <a:off x="698104" y="6028531"/>
            <a:ext cx="6223793" cy="2220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19000"/>
              </a:lnSpc>
            </a:pPr>
            <a:r>
              <a:rPr lang="en-US" sz="120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Treemap, Bar Chart — compare parts of a whole (avoid Pie Charts for complex data)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4304212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17762" y="956667"/>
            <a:ext cx="1625005" cy="2551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3000"/>
              </a:lnSpc>
            </a:pP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98103" y="1351459"/>
            <a:ext cx="8844557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3667" dirty="0">
                <a:solidFill>
                  <a:srgbClr val="F98AC7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Dashboard Design &amp; Data Storytelling</a:t>
            </a:r>
            <a:endParaRPr lang="en-US" sz="3667" dirty="0"/>
          </a:p>
        </p:txBody>
      </p:sp>
      <p:sp>
        <p:nvSpPr>
          <p:cNvPr id="5" name="Text 3"/>
          <p:cNvSpPr/>
          <p:nvPr/>
        </p:nvSpPr>
        <p:spPr>
          <a:xfrm>
            <a:off x="698103" y="2436713"/>
            <a:ext cx="3742333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dirty="0">
                <a:solidFill>
                  <a:srgbClr val="F98AC7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Dashboard Design Principles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98103" y="2929434"/>
            <a:ext cx="5154612" cy="18051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11566" indent="-311566">
              <a:lnSpc>
                <a:spcPct val="133000"/>
              </a:lnSpc>
              <a:buSzPct val="100000"/>
              <a:buChar char="•"/>
            </a:pPr>
            <a:r>
              <a:rPr lang="en-US" sz="1533" b="1" dirty="0">
                <a:solidFill>
                  <a:srgbClr val="D6E5EF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Know your audience</a:t>
            </a:r>
            <a:r>
              <a:rPr lang="en-US" sz="1533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— executive vs. analyst needs differ</a:t>
            </a:r>
            <a:endParaRPr lang="en-US" sz="1533" dirty="0"/>
          </a:p>
          <a:p>
            <a:pPr marL="311566" indent="-311566">
              <a:lnSpc>
                <a:spcPct val="133000"/>
              </a:lnSpc>
              <a:buSzPct val="100000"/>
              <a:buChar char="•"/>
            </a:pPr>
            <a:r>
              <a:rPr lang="en-US" sz="1533" b="1" dirty="0">
                <a:solidFill>
                  <a:srgbClr val="D6E5EF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Limit to 5–7 key metrics</a:t>
            </a:r>
            <a:r>
              <a:rPr lang="en-US" sz="1533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— avoid cognitive overload</a:t>
            </a:r>
            <a:endParaRPr lang="en-US" sz="1533" dirty="0"/>
          </a:p>
          <a:p>
            <a:pPr marL="311566" indent="-311566">
              <a:lnSpc>
                <a:spcPct val="133000"/>
              </a:lnSpc>
              <a:buSzPct val="100000"/>
              <a:buChar char="•"/>
            </a:pPr>
            <a:r>
              <a:rPr lang="en-US" sz="1533" b="1" dirty="0">
                <a:solidFill>
                  <a:srgbClr val="D6E5EF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Use consistent color semantics</a:t>
            </a:r>
            <a:r>
              <a:rPr lang="en-US" sz="1533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— red = alert, green = good</a:t>
            </a:r>
            <a:endParaRPr lang="en-US" sz="1533" dirty="0"/>
          </a:p>
          <a:p>
            <a:pPr marL="311566" indent="-311566">
              <a:lnSpc>
                <a:spcPct val="133000"/>
              </a:lnSpc>
              <a:buSzPct val="100000"/>
              <a:buChar char="•"/>
            </a:pPr>
            <a:r>
              <a:rPr lang="en-US" sz="1533" b="1" dirty="0">
                <a:solidFill>
                  <a:srgbClr val="D6E5EF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Provide context</a:t>
            </a:r>
            <a:r>
              <a:rPr lang="en-US" sz="1533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— benchmarks, targets, and trends</a:t>
            </a:r>
            <a:endParaRPr lang="en-US" sz="1533" dirty="0"/>
          </a:p>
        </p:txBody>
      </p:sp>
      <p:sp>
        <p:nvSpPr>
          <p:cNvPr id="7" name="Text 5"/>
          <p:cNvSpPr/>
          <p:nvPr/>
        </p:nvSpPr>
        <p:spPr>
          <a:xfrm>
            <a:off x="6345636" y="2436713"/>
            <a:ext cx="3743721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dirty="0">
                <a:solidFill>
                  <a:srgbClr val="F98AC7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Data Storytelling Framework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345635" y="2929434"/>
            <a:ext cx="5154612" cy="14859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11566" indent="-311566">
              <a:lnSpc>
                <a:spcPct val="133000"/>
              </a:lnSpc>
              <a:buSzPct val="100000"/>
              <a:buChar char="•"/>
            </a:pPr>
            <a:r>
              <a:rPr lang="en-US" sz="1533" b="1" dirty="0">
                <a:solidFill>
                  <a:srgbClr val="D6E5EF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Hook</a:t>
            </a:r>
            <a:r>
              <a:rPr lang="en-US" sz="1533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— lead with the most impactful finding</a:t>
            </a:r>
            <a:endParaRPr lang="en-US" sz="1533" dirty="0"/>
          </a:p>
          <a:p>
            <a:pPr marL="311566" indent="-311566">
              <a:lnSpc>
                <a:spcPct val="133000"/>
              </a:lnSpc>
              <a:buSzPct val="100000"/>
              <a:buChar char="•"/>
            </a:pPr>
            <a:r>
              <a:rPr lang="en-US" sz="1533" b="1" dirty="0">
                <a:solidFill>
                  <a:srgbClr val="D6E5EF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Context</a:t>
            </a:r>
            <a:r>
              <a:rPr lang="en-US" sz="1533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— explain why it matters to the business</a:t>
            </a:r>
            <a:endParaRPr lang="en-US" sz="1533" dirty="0"/>
          </a:p>
          <a:p>
            <a:pPr marL="311566" indent="-311566">
              <a:lnSpc>
                <a:spcPct val="133000"/>
              </a:lnSpc>
              <a:buSzPct val="100000"/>
              <a:buChar char="•"/>
            </a:pPr>
            <a:r>
              <a:rPr lang="en-US" sz="1533" b="1" dirty="0">
                <a:solidFill>
                  <a:srgbClr val="D6E5EF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Evidence</a:t>
            </a:r>
            <a:r>
              <a:rPr lang="en-US" sz="1533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— support claims with clear, labeled visuals</a:t>
            </a:r>
            <a:endParaRPr lang="en-US" sz="1533" dirty="0"/>
          </a:p>
          <a:p>
            <a:pPr marL="311566" indent="-311566">
              <a:lnSpc>
                <a:spcPct val="133000"/>
              </a:lnSpc>
              <a:buSzPct val="100000"/>
              <a:buChar char="•"/>
            </a:pPr>
            <a:r>
              <a:rPr lang="en-US" sz="1533" b="1" dirty="0">
                <a:solidFill>
                  <a:srgbClr val="D6E5EF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Action</a:t>
            </a:r>
            <a:r>
              <a:rPr lang="en-US" sz="1533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— close with a specific recommendation</a:t>
            </a:r>
            <a:endParaRPr lang="en-US" sz="1533" dirty="0"/>
          </a:p>
        </p:txBody>
      </p:sp>
      <p:sp>
        <p:nvSpPr>
          <p:cNvPr id="9" name="Shape 7"/>
          <p:cNvSpPr/>
          <p:nvPr/>
        </p:nvSpPr>
        <p:spPr>
          <a:xfrm>
            <a:off x="6345635" y="4639767"/>
            <a:ext cx="5154612" cy="1096963"/>
          </a:xfrm>
          <a:prstGeom prst="roundRect">
            <a:avLst>
              <a:gd name="adj" fmla="val 2728"/>
            </a:avLst>
          </a:prstGeom>
          <a:solidFill>
            <a:srgbClr val="790645"/>
          </a:solidFill>
          <a:ln/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5065" y="4930379"/>
            <a:ext cx="249337" cy="199429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993831" y="4869062"/>
            <a:ext cx="4306987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</a:pPr>
            <a:r>
              <a:rPr lang="en-US" sz="1533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 great dashboard answers questions before they're asked.</a:t>
            </a:r>
            <a:endParaRPr lang="en-US" sz="1533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828DF9B-F60C-95C9-E84D-65D651D889BA}"/>
              </a:ext>
            </a:extLst>
          </p:cNvPr>
          <p:cNvSpPr/>
          <p:nvPr/>
        </p:nvSpPr>
        <p:spPr>
          <a:xfrm>
            <a:off x="10782394" y="6385169"/>
            <a:ext cx="1320800" cy="447431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079489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2000" cy="6858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85991" y="666353"/>
            <a:ext cx="1403847" cy="2433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1000"/>
              </a:lnSpc>
            </a:pP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270104" y="1042493"/>
            <a:ext cx="6223793" cy="1136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04000"/>
              </a:lnSpc>
            </a:pPr>
            <a:r>
              <a:rPr lang="en-US" sz="3533" dirty="0">
                <a:solidFill>
                  <a:srgbClr val="F98AC7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Customer Churn Prediction — Industry Case Study</a:t>
            </a:r>
            <a:endParaRPr lang="en-US" sz="3533" dirty="0"/>
          </a:p>
        </p:txBody>
      </p:sp>
      <p:sp>
        <p:nvSpPr>
          <p:cNvPr id="6" name="Text 3"/>
          <p:cNvSpPr/>
          <p:nvPr/>
        </p:nvSpPr>
        <p:spPr>
          <a:xfrm>
            <a:off x="5270104" y="2459932"/>
            <a:ext cx="6223793" cy="9132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 telecom company faced a </a:t>
            </a:r>
            <a:r>
              <a:rPr lang="en-US" sz="1467" b="1" dirty="0">
                <a:solidFill>
                  <a:srgbClr val="D6E5EF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22% annual churn rate</a:t>
            </a:r>
            <a:r>
              <a:rPr lang="en-US" sz="1467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. The analytics team was tasked with identifying at-risk customers and building a predictive model to enable proactive retention.</a:t>
            </a:r>
            <a:endParaRPr lang="en-US" sz="1467" dirty="0"/>
          </a:p>
        </p:txBody>
      </p:sp>
      <p:sp>
        <p:nvSpPr>
          <p:cNvPr id="7" name="Shape 4"/>
          <p:cNvSpPr/>
          <p:nvPr/>
        </p:nvSpPr>
        <p:spPr>
          <a:xfrm>
            <a:off x="5270103" y="3583683"/>
            <a:ext cx="3018333" cy="1391543"/>
          </a:xfrm>
          <a:prstGeom prst="roundRect">
            <a:avLst>
              <a:gd name="adj" fmla="val 2083"/>
            </a:avLst>
          </a:prstGeom>
          <a:solidFill>
            <a:srgbClr val="444752"/>
          </a:solidFill>
          <a:ln/>
        </p:spPr>
      </p:sp>
      <p:sp>
        <p:nvSpPr>
          <p:cNvPr id="8" name="Text 5"/>
          <p:cNvSpPr/>
          <p:nvPr/>
        </p:nvSpPr>
        <p:spPr>
          <a:xfrm>
            <a:off x="5463283" y="3776862"/>
            <a:ext cx="2273499" cy="2840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733" dirty="0">
                <a:solidFill>
                  <a:srgbClr val="D6E5E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Dataset</a:t>
            </a:r>
            <a:endParaRPr lang="en-US" sz="1733" dirty="0"/>
          </a:p>
        </p:txBody>
      </p:sp>
      <p:sp>
        <p:nvSpPr>
          <p:cNvPr id="9" name="Text 6"/>
          <p:cNvSpPr/>
          <p:nvPr/>
        </p:nvSpPr>
        <p:spPr>
          <a:xfrm>
            <a:off x="5463283" y="4173241"/>
            <a:ext cx="2631976" cy="6088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7,043 customers · 21 features · 26% churn rate</a:t>
            </a:r>
            <a:endParaRPr lang="en-US" sz="1467" dirty="0"/>
          </a:p>
        </p:txBody>
      </p:sp>
      <p:sp>
        <p:nvSpPr>
          <p:cNvPr id="10" name="Shape 7"/>
          <p:cNvSpPr/>
          <p:nvPr/>
        </p:nvSpPr>
        <p:spPr>
          <a:xfrm>
            <a:off x="8475563" y="3583683"/>
            <a:ext cx="3018333" cy="1391543"/>
          </a:xfrm>
          <a:prstGeom prst="roundRect">
            <a:avLst>
              <a:gd name="adj" fmla="val 2083"/>
            </a:avLst>
          </a:prstGeom>
          <a:solidFill>
            <a:srgbClr val="444752"/>
          </a:solidFill>
          <a:ln/>
        </p:spPr>
      </p:sp>
      <p:sp>
        <p:nvSpPr>
          <p:cNvPr id="11" name="Text 8"/>
          <p:cNvSpPr/>
          <p:nvPr/>
        </p:nvSpPr>
        <p:spPr>
          <a:xfrm>
            <a:off x="8668743" y="3776862"/>
            <a:ext cx="2273499" cy="2840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733" dirty="0">
                <a:solidFill>
                  <a:srgbClr val="D6E5E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Tools Used</a:t>
            </a:r>
            <a:endParaRPr lang="en-US" sz="1733" dirty="0"/>
          </a:p>
        </p:txBody>
      </p:sp>
      <p:sp>
        <p:nvSpPr>
          <p:cNvPr id="12" name="Text 9"/>
          <p:cNvSpPr/>
          <p:nvPr/>
        </p:nvSpPr>
        <p:spPr>
          <a:xfrm>
            <a:off x="8668743" y="4173241"/>
            <a:ext cx="2631976" cy="6088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Python, Pandas, Seaborn, Scikit-learn</a:t>
            </a:r>
            <a:endParaRPr lang="en-US" sz="1467" dirty="0"/>
          </a:p>
        </p:txBody>
      </p:sp>
      <p:sp>
        <p:nvSpPr>
          <p:cNvPr id="13" name="Shape 10"/>
          <p:cNvSpPr/>
          <p:nvPr/>
        </p:nvSpPr>
        <p:spPr>
          <a:xfrm>
            <a:off x="5270104" y="5162353"/>
            <a:ext cx="6223793" cy="1087140"/>
          </a:xfrm>
          <a:prstGeom prst="roundRect">
            <a:avLst>
              <a:gd name="adj" fmla="val 2666"/>
            </a:avLst>
          </a:prstGeom>
          <a:solidFill>
            <a:srgbClr val="444752"/>
          </a:solidFill>
          <a:ln/>
        </p:spPr>
      </p:sp>
      <p:sp>
        <p:nvSpPr>
          <p:cNvPr id="14" name="Text 11"/>
          <p:cNvSpPr/>
          <p:nvPr/>
        </p:nvSpPr>
        <p:spPr>
          <a:xfrm>
            <a:off x="5463283" y="5355531"/>
            <a:ext cx="2273499" cy="2840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733" dirty="0">
                <a:solidFill>
                  <a:srgbClr val="D6E5E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Model Goal</a:t>
            </a:r>
            <a:endParaRPr lang="en-US" sz="1733" dirty="0"/>
          </a:p>
        </p:txBody>
      </p:sp>
      <p:sp>
        <p:nvSpPr>
          <p:cNvPr id="15" name="Text 12"/>
          <p:cNvSpPr/>
          <p:nvPr/>
        </p:nvSpPr>
        <p:spPr>
          <a:xfrm>
            <a:off x="5463283" y="5751909"/>
            <a:ext cx="5837436" cy="304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Predict churn probability per customer</a:t>
            </a:r>
            <a:endParaRPr lang="en-US" sz="1467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76FE26B-CB82-F0CD-D39A-7F43A61E0EF7}"/>
              </a:ext>
            </a:extLst>
          </p:cNvPr>
          <p:cNvSpPr/>
          <p:nvPr/>
        </p:nvSpPr>
        <p:spPr>
          <a:xfrm>
            <a:off x="10782394" y="6385169"/>
            <a:ext cx="1320800" cy="447431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769196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57932" y="578446"/>
            <a:ext cx="1019275" cy="95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endParaRPr lang="en-US" sz="600" dirty="0"/>
          </a:p>
        </p:txBody>
      </p:sp>
      <p:sp>
        <p:nvSpPr>
          <p:cNvPr id="4" name="Text 2"/>
          <p:cNvSpPr/>
          <p:nvPr/>
        </p:nvSpPr>
        <p:spPr>
          <a:xfrm>
            <a:off x="698103" y="723900"/>
            <a:ext cx="3659287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dirty="0">
                <a:solidFill>
                  <a:srgbClr val="F98AC7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EDA Process &amp; Key Findings</a:t>
            </a:r>
            <a:endParaRPr lang="en-US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0982" y="723900"/>
            <a:ext cx="9691237" cy="473708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961019" y="1687214"/>
            <a:ext cx="2285967" cy="2855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lvl="1" algn="ctr">
              <a:lnSpc>
                <a:spcPct val="104000"/>
              </a:lnSpc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8159161" y="4083836"/>
            <a:ext cx="2285967" cy="2855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4000"/>
              </a:lnSpc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1777207" y="5286055"/>
            <a:ext cx="2371993" cy="2855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4000"/>
              </a:lnSpc>
            </a:pP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6400497" y="5626142"/>
            <a:ext cx="11405393" cy="1196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en-US" sz="140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This structured four-phase approach ensures no analytical blind spots</a:t>
            </a:r>
          </a:p>
          <a:p>
            <a:r>
              <a:rPr lang="en-US" sz="140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—     from initial data profiling through hypothesis generation</a:t>
            </a:r>
            <a:r>
              <a:rPr lang="en-US" sz="200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.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561581" y="1326543"/>
            <a:ext cx="1782961" cy="1466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2400" dirty="0">
                <a:solidFill>
                  <a:srgbClr val="F98AC7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Key </a:t>
            </a:r>
            <a:r>
              <a:rPr lang="en-US" sz="867" dirty="0">
                <a:solidFill>
                  <a:srgbClr val="F98AC7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</a:t>
            </a:r>
            <a:r>
              <a:rPr lang="en-US" sz="2000" dirty="0">
                <a:solidFill>
                  <a:srgbClr val="F98AC7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Findings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494372" y="1883847"/>
            <a:ext cx="5276255" cy="5307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149010" indent="-149010">
              <a:buSzPct val="100000"/>
              <a:buChar char="•"/>
            </a:pPr>
            <a:r>
              <a:rPr lang="en-US" sz="160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Customers on </a:t>
            </a:r>
            <a:r>
              <a:rPr lang="en-US" sz="1600" b="1" dirty="0">
                <a:solidFill>
                  <a:srgbClr val="D6E5EF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month-to-month contracts</a:t>
            </a:r>
            <a:r>
              <a:rPr lang="en-US" sz="160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churned 3× more</a:t>
            </a:r>
          </a:p>
          <a:p>
            <a:pPr marL="149010" indent="-149010">
              <a:buSzPct val="100000"/>
              <a:buChar char="•"/>
            </a:pPr>
            <a:endParaRPr lang="en-US" sz="1600" dirty="0"/>
          </a:p>
          <a:p>
            <a:pPr marL="149010" indent="-149010">
              <a:buSzPct val="100000"/>
              <a:buChar char="•"/>
            </a:pPr>
            <a:r>
              <a:rPr lang="en-US" sz="1600" b="1" dirty="0">
                <a:solidFill>
                  <a:srgbClr val="D6E5EF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Fiber optic</a:t>
            </a:r>
            <a:r>
              <a:rPr lang="en-US" sz="160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users had higher churn despite premium pricing</a:t>
            </a:r>
          </a:p>
          <a:p>
            <a:pPr marL="149010" indent="-149010">
              <a:buSzPct val="100000"/>
              <a:buChar char="•"/>
            </a:pPr>
            <a:endParaRPr lang="en-US" sz="1600" dirty="0"/>
          </a:p>
          <a:p>
            <a:pPr marL="149010" indent="-149010">
              <a:buSzPct val="100000"/>
              <a:buChar char="•"/>
            </a:pPr>
            <a:r>
              <a:rPr lang="en-US" sz="1600" b="1" dirty="0">
                <a:solidFill>
                  <a:srgbClr val="D6E5EF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Tenure</a:t>
            </a:r>
            <a:r>
              <a:rPr lang="en-US" sz="160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was the strongest negative predictor of churn</a:t>
            </a:r>
            <a:endParaRPr lang="en-US" sz="1600" dirty="0"/>
          </a:p>
          <a:p>
            <a:pPr marL="149010" indent="-149010">
              <a:buSzPct val="100000"/>
              <a:buChar char="•"/>
            </a:pPr>
            <a:endParaRPr lang="en-US" sz="1600" dirty="0">
              <a:solidFill>
                <a:srgbClr val="D6E5EF"/>
              </a:solidFill>
              <a:latin typeface="Source Sans 3" pitchFamily="34" charset="0"/>
              <a:ea typeface="Source Sans 3" pitchFamily="34" charset="-122"/>
              <a:cs typeface="Source Sans 3" pitchFamily="34" charset="-120"/>
            </a:endParaRPr>
          </a:p>
          <a:p>
            <a:pPr marL="149010" indent="-149010">
              <a:buSzPct val="100000"/>
              <a:buChar char="•"/>
            </a:pPr>
            <a:r>
              <a:rPr lang="en-US" sz="160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Missing values in </a:t>
            </a:r>
            <a:r>
              <a:rPr lang="en-US" sz="1600" b="1" dirty="0">
                <a:solidFill>
                  <a:srgbClr val="D6E5EF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TotalCharges</a:t>
            </a:r>
            <a:r>
              <a:rPr lang="en-US" sz="160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correlated with new sign-ups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61580" y="4053319"/>
            <a:ext cx="1782961" cy="1466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2000" dirty="0">
                <a:solidFill>
                  <a:srgbClr val="F98AC7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Model</a:t>
            </a:r>
            <a:r>
              <a:rPr lang="en-US" sz="867" dirty="0">
                <a:solidFill>
                  <a:srgbClr val="F98AC7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 </a:t>
            </a:r>
            <a:r>
              <a:rPr lang="en-US" sz="2000" dirty="0">
                <a:solidFill>
                  <a:srgbClr val="F98AC7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Impact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462350" y="4728187"/>
            <a:ext cx="5276255" cy="700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149010" indent="-149010">
              <a:buSzPct val="100000"/>
              <a:buChar char="•"/>
            </a:pPr>
            <a:r>
              <a:rPr lang="en-US" sz="140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Removing outliers improved AUC by </a:t>
            </a:r>
            <a:r>
              <a:rPr lang="en-US" sz="1400" b="1" dirty="0">
                <a:solidFill>
                  <a:srgbClr val="D6E5EF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+4 points</a:t>
            </a:r>
          </a:p>
          <a:p>
            <a:pPr marL="149010" indent="-149010">
              <a:buSzPct val="100000"/>
              <a:buChar char="•"/>
            </a:pPr>
            <a:endParaRPr lang="en-US" sz="1400" dirty="0"/>
          </a:p>
          <a:p>
            <a:pPr marL="149010" indent="-149010">
              <a:buSzPct val="100000"/>
              <a:buChar char="•"/>
            </a:pPr>
            <a:r>
              <a:rPr lang="en-US" sz="140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Feature engineering on tenure boosted recall by </a:t>
            </a:r>
            <a:r>
              <a:rPr lang="en-US" sz="1400" b="1" dirty="0">
                <a:solidFill>
                  <a:srgbClr val="D6E5EF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12%</a:t>
            </a:r>
          </a:p>
          <a:p>
            <a:pPr marL="149010" indent="-149010">
              <a:buSzPct val="100000"/>
              <a:buChar char="•"/>
            </a:pPr>
            <a:endParaRPr lang="en-US" sz="1400" dirty="0"/>
          </a:p>
          <a:p>
            <a:pPr marL="149010" indent="-149010">
              <a:buSzPct val="100000"/>
              <a:buChar char="•"/>
            </a:pPr>
            <a:r>
              <a:rPr lang="en-US" sz="140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EDA-driven feature selection reduced model complexity by </a:t>
            </a:r>
            <a:r>
              <a:rPr lang="en-US" sz="1400" b="1" dirty="0">
                <a:solidFill>
                  <a:srgbClr val="D6E5EF"/>
                </a:solidFill>
                <a:ea typeface="SimSun-ExtB" panose="02010609060101010101" pitchFamily="49" charset="-122"/>
                <a:cs typeface="Source Sans 3 Bold" pitchFamily="34" charset="-120"/>
              </a:rPr>
              <a:t>30</a:t>
            </a:r>
            <a:r>
              <a:rPr lang="en-US" sz="1400" b="1" dirty="0">
                <a:solidFill>
                  <a:srgbClr val="D6E5EF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%</a:t>
            </a:r>
            <a:endParaRPr lang="en-US" sz="14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C855BF4-D667-D23D-DB1E-2DEBDC4F2B5C}"/>
              </a:ext>
            </a:extLst>
          </p:cNvPr>
          <p:cNvSpPr/>
          <p:nvPr/>
        </p:nvSpPr>
        <p:spPr>
          <a:xfrm>
            <a:off x="10782394" y="6385169"/>
            <a:ext cx="1320800" cy="447431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89526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15876" y="634208"/>
            <a:ext cx="1213843" cy="2493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2000"/>
              </a:lnSpc>
            </a:pP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98103" y="1019671"/>
            <a:ext cx="9464080" cy="5775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3600" dirty="0">
                <a:solidFill>
                  <a:srgbClr val="F98AC7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Common Mistakes in EDA &amp; Visualization</a:t>
            </a:r>
            <a:endParaRPr lang="en-US" sz="36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8103" y="1887140"/>
            <a:ext cx="3469680" cy="21010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21458" y="2108895"/>
            <a:ext cx="2661245" cy="2950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🔍</a:t>
            </a:r>
            <a:r>
              <a:rPr lang="en-US" dirty="0">
                <a:solidFill>
                  <a:srgbClr val="D6E5E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Ignoring Data Quality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1021458" y="2519859"/>
            <a:ext cx="2924572" cy="9349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2000"/>
              </a:lnSpc>
            </a:pPr>
            <a:r>
              <a:rPr lang="en-US" sz="1533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Skipping checks for missing values, duplicates, and type mismatches corrupts all downstream analysis.</a:t>
            </a:r>
            <a:endParaRPr lang="en-US" sz="1533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61061" y="1887140"/>
            <a:ext cx="3469779" cy="210105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684415" y="2108895"/>
            <a:ext cx="2799357" cy="2950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📊</a:t>
            </a:r>
            <a:r>
              <a:rPr lang="en-US" dirty="0">
                <a:solidFill>
                  <a:srgbClr val="D6E5E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Wrong Chart Selection</a:t>
            </a:r>
            <a:endParaRPr lang="en-US" dirty="0"/>
          </a:p>
        </p:txBody>
      </p:sp>
      <p:sp>
        <p:nvSpPr>
          <p:cNvPr id="10" name="Text 6"/>
          <p:cNvSpPr/>
          <p:nvPr/>
        </p:nvSpPr>
        <p:spPr>
          <a:xfrm>
            <a:off x="4684415" y="2519859"/>
            <a:ext cx="2924671" cy="1246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2000"/>
              </a:lnSpc>
            </a:pPr>
            <a:r>
              <a:rPr lang="en-US" sz="1533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Using pie charts for multi-category comparisons or line charts for categorical data misleads stakeholders.</a:t>
            </a:r>
            <a:endParaRPr lang="en-US" sz="1533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24117" y="1887140"/>
            <a:ext cx="3469779" cy="210105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347473" y="2108895"/>
            <a:ext cx="2592884" cy="2950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⚠️</a:t>
            </a:r>
            <a:r>
              <a:rPr lang="en-US" dirty="0">
                <a:solidFill>
                  <a:srgbClr val="D6E5E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Overlooking Outliers</a:t>
            </a:r>
            <a:endParaRPr lang="en-US" dirty="0"/>
          </a:p>
        </p:txBody>
      </p:sp>
      <p:sp>
        <p:nvSpPr>
          <p:cNvPr id="13" name="Text 8"/>
          <p:cNvSpPr/>
          <p:nvPr/>
        </p:nvSpPr>
        <p:spPr>
          <a:xfrm>
            <a:off x="8347473" y="2519859"/>
            <a:ext cx="2924671" cy="1246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2000"/>
              </a:lnSpc>
            </a:pPr>
            <a:r>
              <a:rPr lang="en-US" sz="1533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Treating outliers as noise without investigation can hide fraud, system errors, or high-value segments.</a:t>
            </a:r>
            <a:endParaRPr lang="en-US" sz="1533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414999" y="4181475"/>
            <a:ext cx="3469680" cy="2101056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3043632" y="4325838"/>
            <a:ext cx="2310111" cy="2950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🔒</a:t>
            </a:r>
            <a:r>
              <a:rPr lang="en-US" dirty="0">
                <a:solidFill>
                  <a:srgbClr val="D6E5E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Data Leakage</a:t>
            </a:r>
            <a:endParaRPr lang="en-US" dirty="0"/>
          </a:p>
        </p:txBody>
      </p:sp>
      <p:sp>
        <p:nvSpPr>
          <p:cNvPr id="16" name="Text 10"/>
          <p:cNvSpPr/>
          <p:nvPr/>
        </p:nvSpPr>
        <p:spPr>
          <a:xfrm>
            <a:off x="2814555" y="4765277"/>
            <a:ext cx="2924572" cy="1246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2000"/>
              </a:lnSpc>
            </a:pPr>
            <a:r>
              <a:rPr lang="en-US" sz="1533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Including target-variable information in features during EDA inflates model performance unrealistically.</a:t>
            </a:r>
            <a:endParaRPr lang="en-US" sz="1533" dirty="0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89227" y="4181475"/>
            <a:ext cx="3469779" cy="2101056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6728369" y="4350296"/>
            <a:ext cx="2591495" cy="2950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📝</a:t>
            </a:r>
            <a:r>
              <a:rPr lang="en-US" dirty="0">
                <a:solidFill>
                  <a:srgbClr val="D6E5E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Poor Documentation</a:t>
            </a:r>
            <a:endParaRPr lang="en-US" dirty="0"/>
          </a:p>
        </p:txBody>
      </p:sp>
      <p:sp>
        <p:nvSpPr>
          <p:cNvPr id="19" name="Text 12"/>
          <p:cNvSpPr/>
          <p:nvPr/>
        </p:nvSpPr>
        <p:spPr>
          <a:xfrm>
            <a:off x="6728369" y="4838651"/>
            <a:ext cx="2924671" cy="1246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2000"/>
              </a:lnSpc>
            </a:pPr>
            <a:r>
              <a:rPr lang="en-US" sz="1533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Undocumented assumptions and transformations make analyses non-reproducible and untrustworthy.</a:t>
            </a:r>
            <a:endParaRPr lang="en-US" sz="1533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3E4B0D2-675D-E49C-BC32-D123BE90413C}"/>
              </a:ext>
            </a:extLst>
          </p:cNvPr>
          <p:cNvSpPr/>
          <p:nvPr/>
        </p:nvSpPr>
        <p:spPr>
          <a:xfrm>
            <a:off x="10782394" y="6385169"/>
            <a:ext cx="1320800" cy="447431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134820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8086" y="609402"/>
            <a:ext cx="841850" cy="359271"/>
          </a:xfrm>
          <a:prstGeom prst="roundRect">
            <a:avLst>
              <a:gd name="adj" fmla="val 6455"/>
            </a:avLst>
          </a:prstGeom>
          <a:noFill/>
          <a:ln/>
          <a:effectLst>
            <a:outerShdw blurRad="101600" dist="50800" dir="16200000" algn="bl" rotWithShape="0">
              <a:srgbClr val="F98AC7">
                <a:alpha val="100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813970" y="667345"/>
            <a:ext cx="1219666" cy="2433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200" dirty="0">
                <a:solidFill>
                  <a:srgbClr val="F98AC7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WRAP-UP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98086" y="1043484"/>
            <a:ext cx="7319680" cy="5683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50" dirty="0">
                <a:solidFill>
                  <a:srgbClr val="F98AC7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Best Practices &amp; Key Takeaways</a:t>
            </a:r>
            <a:endParaRPr lang="en-US" sz="35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8086" y="1892598"/>
            <a:ext cx="5304201" cy="144234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18257" y="2111177"/>
            <a:ext cx="3465525" cy="2840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D6E5E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Start with the Business Question</a:t>
            </a:r>
            <a:endParaRPr lang="en-US" sz="1750" dirty="0"/>
          </a:p>
        </p:txBody>
      </p:sp>
      <p:sp>
        <p:nvSpPr>
          <p:cNvPr id="7" name="Text 4"/>
          <p:cNvSpPr/>
          <p:nvPr/>
        </p:nvSpPr>
        <p:spPr>
          <a:xfrm>
            <a:off x="1018257" y="2507555"/>
            <a:ext cx="4765457" cy="6088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50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Every EDA step should tie back to the problem you're solving — avoid analysis for its own sake.</a:t>
            </a:r>
            <a:endParaRPr lang="en-US" sz="15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89408" y="1892598"/>
            <a:ext cx="5304201" cy="144234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509579" y="2111177"/>
            <a:ext cx="2320371" cy="2840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D6E5E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Document Everything</a:t>
            </a:r>
            <a:endParaRPr lang="en-US" sz="1750" dirty="0"/>
          </a:p>
        </p:txBody>
      </p:sp>
      <p:sp>
        <p:nvSpPr>
          <p:cNvPr id="10" name="Text 6"/>
          <p:cNvSpPr/>
          <p:nvPr/>
        </p:nvSpPr>
        <p:spPr>
          <a:xfrm>
            <a:off x="6509579" y="2507555"/>
            <a:ext cx="4765457" cy="6088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50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Record cleaning decisions, assumptions, and findings. Reproducibility is non-negotiable.</a:t>
            </a:r>
            <a:endParaRPr lang="en-US" sz="15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8086" y="3522067"/>
            <a:ext cx="5304201" cy="1442343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018257" y="3740646"/>
            <a:ext cx="2647189" cy="2840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D6E5E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Visualize Early and Often</a:t>
            </a:r>
            <a:endParaRPr lang="en-US" sz="1750" dirty="0"/>
          </a:p>
        </p:txBody>
      </p:sp>
      <p:sp>
        <p:nvSpPr>
          <p:cNvPr id="13" name="Text 8"/>
          <p:cNvSpPr/>
          <p:nvPr/>
        </p:nvSpPr>
        <p:spPr>
          <a:xfrm>
            <a:off x="1018257" y="4137025"/>
            <a:ext cx="4765457" cy="6088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50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Charts reveal patterns that summary statistics miss. Let visuals guide your statistical choices.</a:t>
            </a:r>
            <a:endParaRPr lang="en-US" sz="15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89408" y="3522067"/>
            <a:ext cx="5304201" cy="1442343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509579" y="3740646"/>
            <a:ext cx="2273442" cy="2840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D6E5E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Iterate, Don't Perfect</a:t>
            </a:r>
            <a:endParaRPr lang="en-US" sz="1750" dirty="0"/>
          </a:p>
        </p:txBody>
      </p:sp>
      <p:sp>
        <p:nvSpPr>
          <p:cNvPr id="16" name="Text 10"/>
          <p:cNvSpPr/>
          <p:nvPr/>
        </p:nvSpPr>
        <p:spPr>
          <a:xfrm>
            <a:off x="6509579" y="4137025"/>
            <a:ext cx="4765457" cy="6088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500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EDA is cyclical. Initial findings will prompt new questions — that's a feature, not a bug.</a:t>
            </a:r>
            <a:endParaRPr lang="en-US" sz="1500" dirty="0"/>
          </a:p>
        </p:txBody>
      </p:sp>
      <p:sp>
        <p:nvSpPr>
          <p:cNvPr id="17" name="Shape 11"/>
          <p:cNvSpPr/>
          <p:nvPr/>
        </p:nvSpPr>
        <p:spPr>
          <a:xfrm>
            <a:off x="698086" y="5174952"/>
            <a:ext cx="10795524" cy="1073547"/>
          </a:xfrm>
          <a:prstGeom prst="roundRect">
            <a:avLst>
              <a:gd name="adj" fmla="val 2700"/>
            </a:avLst>
          </a:prstGeom>
          <a:solidFill>
            <a:srgbClr val="790645"/>
          </a:solidFill>
          <a:ln/>
        </p:spPr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260" y="5450483"/>
            <a:ext cx="241492" cy="193179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325926" y="5410299"/>
            <a:ext cx="9974509" cy="621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Next Steps:</a:t>
            </a:r>
            <a:r>
              <a:rPr lang="en-US" sz="15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Apply this workflow to your current dataset. Start with </a:t>
            </a:r>
            <a:r>
              <a:rPr lang="en-US" sz="1500" dirty="0">
                <a:solidFill>
                  <a:srgbClr val="FFFFFF"/>
                </a:solidFill>
                <a:highlight>
                  <a:srgbClr val="323540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df.info()</a:t>
            </a:r>
            <a:r>
              <a:rPr lang="en-US" sz="15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, </a:t>
            </a:r>
            <a:r>
              <a:rPr lang="en-US" sz="1500" dirty="0">
                <a:solidFill>
                  <a:srgbClr val="FFFFFF"/>
                </a:solidFill>
                <a:highlight>
                  <a:srgbClr val="323540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df.describe()</a:t>
            </a:r>
            <a:r>
              <a:rPr lang="en-US" sz="15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, and a correlation heatmap — then let the data speak.</a:t>
            </a:r>
            <a:endParaRPr lang="en-US" sz="15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209D1AF-CC71-B7E3-D29D-3E57D5CCA79D}"/>
              </a:ext>
            </a:extLst>
          </p:cNvPr>
          <p:cNvSpPr/>
          <p:nvPr/>
        </p:nvSpPr>
        <p:spPr>
          <a:xfrm>
            <a:off x="10782394" y="6385169"/>
            <a:ext cx="1320800" cy="447431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0" y="0"/>
            <a:ext cx="457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98104" y="2533154"/>
            <a:ext cx="6833393" cy="1173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7333" b="1" dirty="0">
                <a:solidFill>
                  <a:srgbClr val="F98AC7"/>
                </a:solidFill>
                <a:latin typeface="Lora Bold" pitchFamily="34" charset="0"/>
                <a:ea typeface="Lora Bold" pitchFamily="34" charset="-122"/>
                <a:cs typeface="Lora Bold" pitchFamily="34" charset="-120"/>
              </a:rPr>
              <a:t>Thank You</a:t>
            </a:r>
            <a:endParaRPr lang="en-US" sz="7333" dirty="0"/>
          </a:p>
        </p:txBody>
      </p:sp>
      <p:sp>
        <p:nvSpPr>
          <p:cNvPr id="4" name="Text 1"/>
          <p:cNvSpPr/>
          <p:nvPr/>
        </p:nvSpPr>
        <p:spPr>
          <a:xfrm>
            <a:off x="698104" y="4005660"/>
            <a:ext cx="6833393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3000"/>
              </a:lnSpc>
            </a:pPr>
            <a:r>
              <a:rPr lang="en-US" sz="1533" dirty="0">
                <a:solidFill>
                  <a:srgbClr val="D6E5E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Any questions?</a:t>
            </a:r>
            <a:endParaRPr lang="en-US" sz="1533" dirty="0"/>
          </a:p>
        </p:txBody>
      </p:sp>
    </p:spTree>
    <p:extLst>
      <p:ext uri="{BB962C8B-B14F-4D97-AF65-F5344CB8AC3E}">
        <p14:creationId xmlns:p14="http://schemas.microsoft.com/office/powerpoint/2010/main" val="19734395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213</TotalTime>
  <Words>1253</Words>
  <Application>Microsoft Office PowerPoint</Application>
  <PresentationFormat>Widescreen</PresentationFormat>
  <Paragraphs>184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8" baseType="lpstr">
      <vt:lpstr>Source Sans 3 Bold</vt:lpstr>
      <vt:lpstr>Lora Bold</vt:lpstr>
      <vt:lpstr>Arial</vt:lpstr>
      <vt:lpstr>Lora</vt:lpstr>
      <vt:lpstr>Source Sans 3</vt:lpstr>
      <vt:lpstr>Consolas</vt:lpstr>
      <vt:lpstr>Lora Light</vt:lpstr>
      <vt:lpstr>SimSun-ExtB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HP</dc:creator>
  <cp:lastModifiedBy>HRITIK KUMAR MAHTO</cp:lastModifiedBy>
  <cp:revision>8</cp:revision>
  <dcterms:created xsi:type="dcterms:W3CDTF">2026-07-06T16:37:51Z</dcterms:created>
  <dcterms:modified xsi:type="dcterms:W3CDTF">2026-07-08T05:51:28Z</dcterms:modified>
</cp:coreProperties>
</file>